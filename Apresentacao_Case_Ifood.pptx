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67" r:id="rId3"/>
    <p:sldId id="375" r:id="rId4"/>
    <p:sldId id="358" r:id="rId5"/>
    <p:sldId id="387" r:id="rId6"/>
    <p:sldId id="359" r:id="rId7"/>
    <p:sldId id="376" r:id="rId8"/>
    <p:sldId id="369" r:id="rId9"/>
    <p:sldId id="361" r:id="rId10"/>
    <p:sldId id="371" r:id="rId11"/>
    <p:sldId id="377" r:id="rId12"/>
    <p:sldId id="378" r:id="rId13"/>
    <p:sldId id="379" r:id="rId14"/>
    <p:sldId id="385" r:id="rId15"/>
    <p:sldId id="381" r:id="rId16"/>
    <p:sldId id="386" r:id="rId17"/>
    <p:sldId id="380" r:id="rId18"/>
    <p:sldId id="382" r:id="rId19"/>
    <p:sldId id="383" r:id="rId20"/>
    <p:sldId id="384" r:id="rId21"/>
    <p:sldId id="388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2AAB"/>
    <a:srgbClr val="2A7AAB"/>
    <a:srgbClr val="299FAC"/>
    <a:srgbClr val="80C7D9"/>
    <a:srgbClr val="4BD9B6"/>
    <a:srgbClr val="8EE733"/>
    <a:srgbClr val="E2E636"/>
    <a:srgbClr val="6ADBD9"/>
    <a:srgbClr val="3A923A"/>
    <a:srgbClr val="E181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06" autoAdjust="0"/>
    <p:restoredTop sz="86640" autoAdjust="0"/>
  </p:normalViewPr>
  <p:slideViewPr>
    <p:cSldViewPr snapToGrid="0">
      <p:cViewPr varScale="1">
        <p:scale>
          <a:sx n="58" d="100"/>
          <a:sy n="58" d="100"/>
        </p:scale>
        <p:origin x="1000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72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1C0E9A-CAF1-44BA-8C98-5BE835AC7B3C}" type="datetimeFigureOut">
              <a:rPr lang="pt-BR" smtClean="0"/>
              <a:t>06/08/2020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3CCD0D-6437-4073-8960-8BC5F3D1E7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1402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Tentou analisar todas as partes do processo – </a:t>
            </a:r>
            <a:r>
              <a:rPr lang="pt-BR" dirty="0" err="1"/>
              <a:t>push</a:t>
            </a:r>
            <a:r>
              <a:rPr lang="pt-BR" dirty="0"/>
              <a:t>, pedidos e segmentação</a:t>
            </a:r>
          </a:p>
          <a:p>
            <a:r>
              <a:rPr lang="pt-BR" dirty="0"/>
              <a:t>Foco foi gerar valor considerando o cenário atual e o posicionamento do </a:t>
            </a:r>
            <a:r>
              <a:rPr lang="pt-BR" dirty="0" err="1"/>
              <a:t>ifood</a:t>
            </a:r>
            <a:endParaRPr lang="pt-BR" dirty="0"/>
          </a:p>
          <a:p>
            <a:r>
              <a:rPr lang="pt-BR" dirty="0"/>
              <a:t>Pontos importantes de cada desafio: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Entendimento da base foi o alicerce para todos os desafios abordados, importante entendimento do fluxo do cliente e como o </a:t>
            </a:r>
            <a:r>
              <a:rPr lang="pt-BR" dirty="0" err="1"/>
              <a:t>ifood</a:t>
            </a:r>
            <a:r>
              <a:rPr lang="pt-BR" dirty="0"/>
              <a:t> segmenta os mesmos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Nova </a:t>
            </a:r>
            <a:r>
              <a:rPr lang="pt-BR" dirty="0" err="1"/>
              <a:t>clusterização</a:t>
            </a:r>
            <a:r>
              <a:rPr lang="pt-BR" dirty="0"/>
              <a:t>: como podemos pensar em algo diferente do que já tem na base de dados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Recomendação: quanto melhor a recomendação, maior a chance de efetuar o pedido (modelo com uma alta acurácia)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Nova predição: como podemos gerar valor considerando o cenário de incerteza (momento atual)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CCD0D-6437-4073-8960-8BC5F3D1E70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8409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ETL:</a:t>
            </a:r>
          </a:p>
          <a:p>
            <a:r>
              <a:rPr lang="pt-BR" dirty="0"/>
              <a:t>Decidimos separar os notebooks de ETL dos modelos avaliados</a:t>
            </a:r>
          </a:p>
          <a:p>
            <a:r>
              <a:rPr lang="pt-BR" dirty="0"/>
              <a:t>OS </a:t>
            </a:r>
            <a:r>
              <a:rPr lang="pt-BR" dirty="0" err="1"/>
              <a:t>ETLs</a:t>
            </a:r>
            <a:r>
              <a:rPr lang="pt-BR" dirty="0"/>
              <a:t> seguem essa estrutura do pipeline de dados</a:t>
            </a:r>
          </a:p>
          <a:p>
            <a:r>
              <a:rPr lang="pt-BR" dirty="0"/>
              <a:t>Agrupamos os </a:t>
            </a:r>
            <a:r>
              <a:rPr lang="pt-BR" dirty="0" err="1"/>
              <a:t>pushs</a:t>
            </a:r>
            <a:r>
              <a:rPr lang="pt-BR" dirty="0"/>
              <a:t> por usuário e por período de 15 dias</a:t>
            </a:r>
          </a:p>
          <a:p>
            <a:r>
              <a:rPr lang="pt-BR" dirty="0"/>
              <a:t>Dada a estrutura podemos conectar uma ferramenta de visualização para análises posteriores e possivelmente acompanhar os modelos</a:t>
            </a:r>
          </a:p>
          <a:p>
            <a:r>
              <a:rPr lang="pt-BR" dirty="0"/>
              <a:t>Separação da área de </a:t>
            </a:r>
            <a:r>
              <a:rPr lang="pt-BR" dirty="0" err="1"/>
              <a:t>sandbox</a:t>
            </a:r>
            <a:r>
              <a:rPr lang="pt-BR" dirty="0"/>
              <a:t> para a criação das </a:t>
            </a:r>
            <a:r>
              <a:rPr lang="pt-BR" dirty="0" err="1"/>
              <a:t>ABTs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CCD0D-6437-4073-8960-8BC5F3D1E70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6197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Fluxo do entendimento do cliente nas bases do </a:t>
            </a:r>
            <a:r>
              <a:rPr lang="pt-BR" dirty="0" err="1"/>
              <a:t>ifood</a:t>
            </a:r>
            <a:endParaRPr lang="pt-BR" dirty="0"/>
          </a:p>
          <a:p>
            <a:r>
              <a:rPr lang="pt-BR" dirty="0"/>
              <a:t>Sem entender os dados e a jornada desse cliente no processo de compra não conseguiríamos propor modelos efetivos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CCD0D-6437-4073-8960-8BC5F3D1E70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6728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Considerando o desafio de recomendação analisamos os principais pratos e chegamos a conclusão de que está centralizado em 3 pratos principais.</a:t>
            </a:r>
          </a:p>
          <a:p>
            <a:r>
              <a:rPr lang="pt-BR" dirty="0"/>
              <a:t>Evitar o </a:t>
            </a:r>
            <a:r>
              <a:rPr lang="pt-BR" dirty="0" err="1"/>
              <a:t>overfit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CCD0D-6437-4073-8960-8BC5F3D1E70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2838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Pela base de </a:t>
            </a:r>
            <a:r>
              <a:rPr lang="pt-BR" dirty="0" err="1"/>
              <a:t>push</a:t>
            </a:r>
            <a:r>
              <a:rPr lang="pt-BR" dirty="0"/>
              <a:t> conseguimos ver alguns picos de envio centralizados perto da hora do almoço e jantar</a:t>
            </a:r>
          </a:p>
          <a:p>
            <a:r>
              <a:rPr lang="pt-BR" dirty="0"/>
              <a:t>Alguns outros horários de menor demanda</a:t>
            </a:r>
          </a:p>
          <a:p>
            <a:r>
              <a:rPr lang="pt-BR" dirty="0"/>
              <a:t>Cada linha é um dia da semana, vemos que todos seguem o mesmo comportamento</a:t>
            </a:r>
          </a:p>
          <a:p>
            <a:r>
              <a:rPr lang="pt-BR" dirty="0"/>
              <a:t>Importante ressaltar que a aderência ao </a:t>
            </a:r>
            <a:r>
              <a:rPr lang="pt-BR" dirty="0" err="1"/>
              <a:t>push</a:t>
            </a:r>
            <a:r>
              <a:rPr lang="pt-BR" dirty="0"/>
              <a:t> </a:t>
            </a:r>
            <a:r>
              <a:rPr lang="pt-BR" dirty="0" err="1"/>
              <a:t>vs</a:t>
            </a:r>
            <a:r>
              <a:rPr lang="pt-BR" dirty="0"/>
              <a:t> clicks é significativa</a:t>
            </a:r>
          </a:p>
          <a:p>
            <a:r>
              <a:rPr lang="pt-BR" dirty="0"/>
              <a:t>Principal canal de promoções e ações para o cliente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CCD0D-6437-4073-8960-8BC5F3D1E70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878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Complementando o slide anterior podemos ver a proporção de clicks e </a:t>
            </a:r>
            <a:r>
              <a:rPr lang="pt-BR" dirty="0" err="1"/>
              <a:t>bounces</a:t>
            </a:r>
            <a:r>
              <a:rPr lang="pt-BR" dirty="0"/>
              <a:t> </a:t>
            </a:r>
            <a:r>
              <a:rPr lang="pt-BR" dirty="0" err="1"/>
              <a:t>vs</a:t>
            </a:r>
            <a:r>
              <a:rPr lang="pt-BR" dirty="0"/>
              <a:t> o envio</a:t>
            </a:r>
          </a:p>
          <a:p>
            <a:r>
              <a:rPr lang="pt-BR" dirty="0"/>
              <a:t>Sobre o canal o principal é o </a:t>
            </a:r>
            <a:r>
              <a:rPr lang="pt-BR" dirty="0" err="1"/>
              <a:t>google</a:t>
            </a:r>
            <a:r>
              <a:rPr lang="pt-BR" dirty="0"/>
              <a:t> </a:t>
            </a:r>
            <a:r>
              <a:rPr lang="pt-BR" dirty="0" err="1"/>
              <a:t>ads</a:t>
            </a:r>
            <a:r>
              <a:rPr lang="pt-BR" dirty="0"/>
              <a:t> assim como o maior investimento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CCD0D-6437-4073-8960-8BC5F3D1E700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0481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Analisamos as principais classificações da segmentação</a:t>
            </a:r>
          </a:p>
          <a:p>
            <a:r>
              <a:rPr lang="pt-BR" dirty="0"/>
              <a:t>Considerando a segmentação por status conseguimos ver um alto volume de inativos e </a:t>
            </a:r>
            <a:r>
              <a:rPr lang="pt-BR" dirty="0" err="1"/>
              <a:t>churn</a:t>
            </a:r>
            <a:r>
              <a:rPr lang="pt-BR" dirty="0"/>
              <a:t> e um volume baixo de ressuscitados </a:t>
            </a:r>
          </a:p>
          <a:p>
            <a:r>
              <a:rPr lang="pt-BR" dirty="0"/>
              <a:t>Olhando a classificação da </a:t>
            </a:r>
            <a:r>
              <a:rPr lang="pt-BR" dirty="0" err="1"/>
              <a:t>marlin</a:t>
            </a:r>
            <a:r>
              <a:rPr lang="pt-BR" dirty="0"/>
              <a:t> </a:t>
            </a:r>
            <a:r>
              <a:rPr lang="pt-BR" dirty="0" err="1"/>
              <a:t>tag</a:t>
            </a:r>
            <a:r>
              <a:rPr lang="pt-BR" dirty="0"/>
              <a:t> conseguimos entender um pouco melhor o tipo de cliente. Aumento da classificação </a:t>
            </a:r>
            <a:r>
              <a:rPr lang="pt-BR" dirty="0" err="1"/>
              <a:t>marlin</a:t>
            </a:r>
            <a:r>
              <a:rPr lang="pt-BR" dirty="0"/>
              <a:t> de clientes com grande potencial</a:t>
            </a:r>
          </a:p>
          <a:p>
            <a:r>
              <a:rPr lang="pt-BR" dirty="0"/>
              <a:t>Considerando os dados analisados, partindo para os desafios conseguimos ver alguns dados importantes que podem gerar valor para o </a:t>
            </a:r>
            <a:r>
              <a:rPr lang="pt-BR" dirty="0" err="1"/>
              <a:t>ifood</a:t>
            </a:r>
            <a:endParaRPr lang="pt-BR" dirty="0"/>
          </a:p>
          <a:p>
            <a:r>
              <a:rPr lang="pt-BR" dirty="0"/>
              <a:t>Começando pela segmentação ...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CCD0D-6437-4073-8960-8BC5F3D1E70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8898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Considerando as analises anteriores observamos que na base de segmentação temos muitas informações referentes ao cliente e aos pedidos mas pouca classificação considerando o início da jornada que seriam os </a:t>
            </a:r>
            <a:r>
              <a:rPr lang="pt-BR" dirty="0" err="1"/>
              <a:t>pushs</a:t>
            </a:r>
            <a:r>
              <a:rPr lang="pt-BR" dirty="0"/>
              <a:t> (eventos) e a </a:t>
            </a:r>
            <a:r>
              <a:rPr lang="pt-BR" dirty="0" err="1"/>
              <a:t>session</a:t>
            </a:r>
            <a:r>
              <a:rPr lang="pt-BR" dirty="0"/>
              <a:t> (navegação).</a:t>
            </a:r>
          </a:p>
          <a:p>
            <a:r>
              <a:rPr lang="pt-BR" dirty="0"/>
              <a:t>Com isso decidimos  fazer uma nova </a:t>
            </a:r>
            <a:r>
              <a:rPr lang="pt-BR" dirty="0" err="1"/>
              <a:t>clusterização</a:t>
            </a:r>
            <a:r>
              <a:rPr lang="pt-BR" dirty="0"/>
              <a:t> considerando estes dados</a:t>
            </a:r>
          </a:p>
          <a:p>
            <a:r>
              <a:rPr lang="pt-BR" dirty="0"/>
              <a:t>Dentro do range de clusters que decidimos utilizar que foi de 3 a 7 (que é o que faz sentido para o negócio) o número 3 teve o melhor valor de </a:t>
            </a:r>
            <a:r>
              <a:rPr lang="pt-BR" dirty="0" err="1"/>
              <a:t>silhoute</a:t>
            </a:r>
            <a:r>
              <a:rPr lang="pt-BR" dirty="0"/>
              <a:t> score (</a:t>
            </a:r>
            <a:r>
              <a:rPr lang="pt-BR" b="1" dirty="0">
                <a:solidFill>
                  <a:srgbClr val="FF0000"/>
                </a:solidFill>
              </a:rPr>
              <a:t>que traz a distancia entre os grupos</a:t>
            </a:r>
            <a:r>
              <a:rPr lang="pt-BR" dirty="0"/>
              <a:t>).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CCD0D-6437-4073-8960-8BC5F3D1E700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210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Aqui trouxemos um overview por variável e grupo de classificação para entender melhor o que cada cluster significa</a:t>
            </a:r>
          </a:p>
          <a:p>
            <a:endParaRPr lang="pt-BR" dirty="0"/>
          </a:p>
          <a:p>
            <a:r>
              <a:rPr lang="pt-BR" dirty="0" err="1"/>
              <a:t>Agoa</a:t>
            </a:r>
            <a:r>
              <a:rPr lang="pt-BR" dirty="0"/>
              <a:t> entendendo melhor o nosso cliente, será que conseguimos prever o que ele quer?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CCD0D-6437-4073-8960-8BC5F3D1E700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58260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Testamos regressão logística, que não desempenhou bem pois não é um problema linear.</a:t>
            </a:r>
          </a:p>
          <a:p>
            <a:r>
              <a:rPr lang="pt-BR" dirty="0"/>
              <a:t>Decidimos pela árvore de decisão.</a:t>
            </a:r>
          </a:p>
          <a:p>
            <a:r>
              <a:rPr lang="pt-BR" dirty="0"/>
              <a:t>Testamos algumas alternativas como 7, 5 e 4  classes e a melhor performance foi a com os 3 pedidos mais frequentes e outros.</a:t>
            </a:r>
          </a:p>
          <a:p>
            <a:r>
              <a:rPr lang="pt-BR" dirty="0"/>
              <a:t>Utilizamos a base inteira e separamos por </a:t>
            </a:r>
            <a:r>
              <a:rPr lang="pt-BR" dirty="0" err="1"/>
              <a:t>random</a:t>
            </a:r>
            <a:r>
              <a:rPr lang="pt-BR" dirty="0"/>
              <a:t> split.</a:t>
            </a:r>
          </a:p>
          <a:p>
            <a:r>
              <a:rPr lang="pt-BR" b="0" i="0" dirty="0">
                <a:solidFill>
                  <a:srgbClr val="000000"/>
                </a:solidFill>
                <a:effectLst/>
                <a:latin typeface="Inter"/>
              </a:rPr>
              <a:t>a arvore decisão teve melhor performance nas classes principais que representam o maior volume de pedidos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CCD0D-6437-4073-8960-8BC5F3D1E700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19757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CCD0D-6437-4073-8960-8BC5F3D1E700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04422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Testamos o modelo com classificação mensal, porém reduzindo para 15 dias tivemos uma performance melhor e considerando o recall como métrica de avaliação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CCD0D-6437-4073-8960-8BC5F3D1E700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80467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Modelo de classificação, avaliamos 5 e escolhemos os dois melhores – </a:t>
            </a:r>
            <a:r>
              <a:rPr lang="pt-BR" dirty="0" err="1"/>
              <a:t>random</a:t>
            </a:r>
            <a:r>
              <a:rPr lang="pt-BR" dirty="0"/>
              <a:t> </a:t>
            </a:r>
            <a:r>
              <a:rPr lang="pt-BR" dirty="0" err="1"/>
              <a:t>forest</a:t>
            </a:r>
            <a:r>
              <a:rPr lang="pt-BR" dirty="0"/>
              <a:t> e regressão log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CCD0D-6437-4073-8960-8BC5F3D1E700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511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Usa poucas variáveis e por isso </a:t>
            </a:r>
            <a:r>
              <a:rPr lang="pt-BR" dirty="0" err="1"/>
              <a:t>setamos</a:t>
            </a:r>
            <a:r>
              <a:rPr lang="pt-BR" dirty="0"/>
              <a:t> o parâmetro do </a:t>
            </a:r>
            <a:r>
              <a:rPr lang="pt-BR" dirty="0" err="1"/>
              <a:t>subset</a:t>
            </a:r>
            <a:r>
              <a:rPr lang="pt-BR" dirty="0"/>
              <a:t> no </a:t>
            </a:r>
            <a:r>
              <a:rPr lang="pt-BR" dirty="0" err="1"/>
              <a:t>tunning</a:t>
            </a:r>
            <a:r>
              <a:rPr lang="pt-BR" dirty="0"/>
              <a:t> do </a:t>
            </a:r>
            <a:r>
              <a:rPr lang="pt-BR" dirty="0" err="1"/>
              <a:t>random</a:t>
            </a:r>
            <a:r>
              <a:rPr lang="pt-BR" dirty="0"/>
              <a:t> </a:t>
            </a:r>
            <a:r>
              <a:rPr lang="pt-BR" dirty="0" err="1"/>
              <a:t>forest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CCD0D-6437-4073-8960-8BC5F3D1E700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6194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Metodo</a:t>
            </a:r>
            <a:r>
              <a:rPr lang="pt-BR" dirty="0"/>
              <a:t> de </a:t>
            </a:r>
            <a:r>
              <a:rPr lang="pt-BR" dirty="0" err="1"/>
              <a:t>feature</a:t>
            </a:r>
            <a:r>
              <a:rPr lang="pt-BR" dirty="0"/>
              <a:t> </a:t>
            </a:r>
            <a:r>
              <a:rPr lang="pt-BR" dirty="0" err="1"/>
              <a:t>seletion</a:t>
            </a:r>
            <a:r>
              <a:rPr lang="pt-BR" dirty="0"/>
              <a:t> considerando a correlação (eliminando as variáveis com pontos de corte de 0,7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CCD0D-6437-4073-8960-8BC5F3D1E700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90696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Regressão logística: </a:t>
            </a:r>
            <a:r>
              <a:rPr lang="pt-BR" dirty="0" err="1"/>
              <a:t>regparam</a:t>
            </a:r>
            <a:r>
              <a:rPr lang="pt-BR" dirty="0"/>
              <a:t> te da o tamanho da regularização que </a:t>
            </a:r>
            <a:r>
              <a:rPr lang="pt-BR" dirty="0" err="1"/>
              <a:t>vc</a:t>
            </a:r>
            <a:r>
              <a:rPr lang="pt-BR" dirty="0"/>
              <a:t> vai aplicar no modelo, </a:t>
            </a:r>
            <a:r>
              <a:rPr lang="pt-BR" dirty="0" err="1"/>
              <a:t>elasticnetparam</a:t>
            </a:r>
            <a:r>
              <a:rPr lang="pt-BR" dirty="0"/>
              <a:t> utiliza tanto da regularização L1 e L2 (LASSO e RIDGE) para penalizar o modelo</a:t>
            </a:r>
          </a:p>
          <a:p>
            <a:endParaRPr lang="pt-BR" dirty="0"/>
          </a:p>
          <a:p>
            <a:r>
              <a:rPr lang="pt-BR" dirty="0" err="1"/>
              <a:t>Random</a:t>
            </a:r>
            <a:r>
              <a:rPr lang="pt-BR" dirty="0"/>
              <a:t> Forest: número de árvores, profundidade e estratégia de seleção de variáveis para cada árvore</a:t>
            </a:r>
          </a:p>
          <a:p>
            <a:endParaRPr lang="pt-BR" dirty="0"/>
          </a:p>
          <a:p>
            <a:r>
              <a:rPr lang="pt-BR" dirty="0"/>
              <a:t>* </a:t>
            </a:r>
            <a:r>
              <a:rPr lang="pt-BR" dirty="0" err="1"/>
              <a:t>Pq</a:t>
            </a:r>
            <a:r>
              <a:rPr lang="pt-BR" dirty="0"/>
              <a:t> da </a:t>
            </a:r>
            <a:r>
              <a:rPr lang="pt-BR" dirty="0" err="1"/>
              <a:t>crossvalidation</a:t>
            </a:r>
            <a:r>
              <a:rPr lang="pt-BR" dirty="0"/>
              <a:t> ser 5 na </a:t>
            </a:r>
            <a:r>
              <a:rPr lang="pt-BR" dirty="0" err="1"/>
              <a:t>reg</a:t>
            </a:r>
            <a:r>
              <a:rPr lang="pt-BR" dirty="0"/>
              <a:t> log e 3 na </a:t>
            </a:r>
            <a:r>
              <a:rPr lang="pt-BR" dirty="0" err="1"/>
              <a:t>random</a:t>
            </a:r>
            <a:r>
              <a:rPr lang="pt-BR" dirty="0"/>
              <a:t> </a:t>
            </a:r>
            <a:r>
              <a:rPr lang="pt-BR" dirty="0" err="1"/>
              <a:t>forest</a:t>
            </a:r>
            <a:r>
              <a:rPr lang="pt-BR" dirty="0"/>
              <a:t> (número de </a:t>
            </a:r>
            <a:r>
              <a:rPr lang="pt-BR" dirty="0" err="1"/>
              <a:t>flods</a:t>
            </a:r>
            <a:r>
              <a:rPr lang="pt-BR" dirty="0"/>
              <a:t>) devido a complexidade consequente de tempo de execução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CCD0D-6437-4073-8960-8BC5F3D1E700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102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Resultados melhoraram marginalmente 94,85  para 95,88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CCD0D-6437-4073-8960-8BC5F3D1E700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59060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Resultados melhoraram marginalmente 94,57 para 94,6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CCD0D-6437-4073-8960-8BC5F3D1E700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2254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8716AE-B139-4AEF-8AC5-FCA3837D9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A8FC99-B924-4CC8-9782-1BAEFC5F50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C39956-4D72-4527-A3D7-467AF2D5F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@2020 FIA LABDATA. Copyright all rights reserved.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1233BF-578A-495E-A4DD-0F516A97F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labdata.fia.com.br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ABF1AF-51DC-4F1D-B6A9-EDC61394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B8526-A7DF-44F1-A0A0-E2C9088E15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212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2D7937-05B1-4276-9BB4-06913220B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EB13B8-6628-461E-A7DC-2E6DA8BC4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72D6DD-44F5-4F28-BDCA-45803BDB2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/>
              <a:t>@2020 LABDATA FIA. Copyright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rights</a:t>
            </a:r>
            <a:r>
              <a:rPr lang="pt-BR" dirty="0"/>
              <a:t> </a:t>
            </a:r>
            <a:r>
              <a:rPr lang="pt-BR" dirty="0" err="1"/>
              <a:t>reserved</a:t>
            </a:r>
            <a:r>
              <a:rPr lang="pt-BR" dirty="0"/>
              <a:t>.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E48BF8-21E0-4701-AFCB-C6FBB2F4D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labdata.fia.com.br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BE8D92-1CF9-45FD-A449-2C0CE0396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B8526-A7DF-44F1-A0A0-E2C9088E15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3483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89F59-64F4-4D36-975A-A572FDDF5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49A5F1-4D26-4372-A429-02801E40C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E34B12-ACB7-4504-857C-43022E3C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@2020 FIA LABDATA. Copyright all rights reserved.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A26DBF-39EF-46CF-8F63-50BDDAABE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labdata.fia.com.br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A030F6-239E-46A9-A507-CFFE4262C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B8526-A7DF-44F1-A0A0-E2C9088E15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780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92B96D-2AF0-478F-933F-07F7CFC64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416FF0-4972-444F-9596-0D3DB469F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62401C9-273D-4C9D-8957-984C097EE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A0911A-2DAD-480B-87F0-51A20923B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@2020 FIA LABDATA. Copyright all rights reserved.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189F4B-8A4F-4301-9ED9-D98F39766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labdata.fia.com.br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FF68CA-892C-4A00-B2E2-83ADCE4A0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B8526-A7DF-44F1-A0A0-E2C9088E15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790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EF6EAA-4E06-4408-B3EC-0EB395A6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6C8F12E-79BA-499C-B6F7-44001FE88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79B9F35-DC8D-4441-8173-70108EF01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A0B3950-5B27-4F1D-A58E-8717968AA5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D278AB4-08CF-4C9D-9092-477BA2890D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2D2442F-3EF2-4D4D-B104-90565C5E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@2020 FIA LABDATA. Copyright all rights reserved.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252A0B8-9F20-44DB-9508-C4AEB8319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labdata.fia.com.br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A4F7A9A-8E80-4E7F-A3FC-97E9B7A02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B8526-A7DF-44F1-A0A0-E2C9088E15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749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2106FF-21A7-4166-8319-567BFEBA0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6C84C2D-443B-41E7-870C-BD9061D7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@2020 FIA LABDATA. Copyright all rights reserved.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E871DBC-8C7E-4790-A074-FC7CF74FD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labdata.fia.com.br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578BE79-9371-482D-B61E-EA546C86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B8526-A7DF-44F1-A0A0-E2C9088E15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3006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6CFFAD7-E6C6-46C1-B5BB-817A54DEA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@2020 FIA LABDATA. Copyright all rights reserved.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9A653A-9CBD-4578-9DFB-865325E6C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labdata.fia.com.br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2D0B2D-1966-42CB-AEE8-C71362682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B8526-A7DF-44F1-A0A0-E2C9088E15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0411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70A50-D06D-4105-8048-B11E8CBED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999CF1-C8F4-4CFD-B5F6-F1E1CF44E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45658EB-1D49-4F88-9830-F607BC5F4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002697-4E19-4C42-AFAC-8BEF8FD75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@2020 FIA LABDATA. Copyright all rights reserved.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FEE884-A0F2-48DB-BA6E-D58E3438D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labdata.fia.com.br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66D9C5-2EEA-4428-9090-31AC84351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B8526-A7DF-44F1-A0A0-E2C9088E15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4233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85FE8F-00CA-445E-BF25-C8DAC77E5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867159A-446E-4F5D-98C3-E4556E4A3A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A26234A-4931-4C7A-BD8E-599A6D5D8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C5AE97-0A0D-45D5-9F36-995E18A0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@2020 FIA LABDATA. Copyright all rights reserved.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FF6FF8-A225-4D65-B4D2-40C6552CA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labdata.fia.com.br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B29670-B4A8-4F96-A599-1C62154F8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B8526-A7DF-44F1-A0A0-E2C9088E15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357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4E4ECA-2699-4B8A-AEA5-677DE68F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D8FA993-DD33-4CF5-81E9-3DE9350B6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948360-43C2-4AFA-85D0-9C25F159F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@2020 FIA LABDATA. Copyright all rights reserved.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AF7F78-02C3-4A92-80CE-B8D52A58E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labdata.fia.com.br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6E441C-F96D-47CB-A6A8-0A95EA502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B8526-A7DF-44F1-A0A0-E2C9088E15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4248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1B4729D-8C1B-4D23-AF52-8E9140BB1B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2078809-54C6-4997-9CD5-3DB83AE27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6F528E-0847-46D4-8041-49A698676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@2020 FIA LABDATA. Copyright all rights reserved.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C899A7-9A4A-4159-82DF-C862B9D67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labdata.fia.com.br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65081D-8656-4AC8-8D85-B2E862604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B8526-A7DF-44F1-A0A0-E2C9088E15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0258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-33" y="-92267"/>
            <a:ext cx="12192000" cy="169200"/>
          </a:xfrm>
          <a:prstGeom prst="rect">
            <a:avLst/>
          </a:prstGeom>
          <a:solidFill>
            <a:srgbClr val="6ADBD9"/>
          </a:solidFill>
          <a:ln w="9525" cap="flat" cmpd="sng">
            <a:solidFill>
              <a:srgbClr val="6ADB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6" name="Google Shape;62;p13">
            <a:extLst>
              <a:ext uri="{FF2B5EF4-FFF2-40B4-BE49-F238E27FC236}">
                <a16:creationId xmlns:a16="http://schemas.microsoft.com/office/drawing/2014/main" id="{2516F10A-1860-4F4E-B29F-C5E5C3A58B1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515060" y="4625654"/>
            <a:ext cx="2628806" cy="21167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1882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3954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2318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5157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93764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87024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61892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67120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9297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4077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5C3565C-D140-4C0C-92F9-F31FDB21F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EC85DB-826E-4880-8EB7-61B52CC15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BE5735-FB17-4D51-86BB-86683FBBE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@2020 FIA LABDATA. Copyright all rights reserved.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708B36-E06F-44CB-9761-AC85A8BEC5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labdata.fia.com.br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4006AA-26E9-4FDB-B981-0283554DA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B8526-A7DF-44F1-A0A0-E2C9088E15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0380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511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jpe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3.jpe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7.png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7.png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7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.jpe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7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.jpe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3"/>
          <p:cNvGrpSpPr/>
          <p:nvPr/>
        </p:nvGrpSpPr>
        <p:grpSpPr>
          <a:xfrm>
            <a:off x="-3251199" y="-304800"/>
            <a:ext cx="10893700" cy="7467600"/>
            <a:chOff x="-2438400" y="-228600"/>
            <a:chExt cx="8170275" cy="5600700"/>
          </a:xfrm>
        </p:grpSpPr>
        <p:grpSp>
          <p:nvGrpSpPr>
            <p:cNvPr id="57" name="Google Shape;57;p13"/>
            <p:cNvGrpSpPr/>
            <p:nvPr/>
          </p:nvGrpSpPr>
          <p:grpSpPr>
            <a:xfrm>
              <a:off x="-2438400" y="0"/>
              <a:ext cx="8017875" cy="5372100"/>
              <a:chOff x="-2438400" y="0"/>
              <a:chExt cx="8017875" cy="5372100"/>
            </a:xfrm>
          </p:grpSpPr>
          <p:pic>
            <p:nvPicPr>
              <p:cNvPr id="58" name="Google Shape;58;p13"/>
              <p:cNvPicPr preferRelativeResize="0"/>
              <p:nvPr/>
            </p:nvPicPr>
            <p:blipFill rotWithShape="1">
              <a:blip r:embed="rId3">
                <a:alphaModFix/>
              </a:blip>
              <a:srcRect l="-43947"/>
              <a:stretch/>
            </p:blipFill>
            <p:spPr>
              <a:xfrm rot="10800000" flipH="1">
                <a:off x="-2438400" y="0"/>
                <a:ext cx="7987800" cy="5143500"/>
              </a:xfrm>
              <a:prstGeom prst="trapezoid">
                <a:avLst>
                  <a:gd name="adj" fmla="val 41313"/>
                </a:avLst>
              </a:prstGeom>
              <a:noFill/>
              <a:ln>
                <a:noFill/>
              </a:ln>
            </p:spPr>
          </p:pic>
          <p:cxnSp>
            <p:nvCxnSpPr>
              <p:cNvPr id="59" name="Google Shape;59;p13"/>
              <p:cNvCxnSpPr/>
              <p:nvPr/>
            </p:nvCxnSpPr>
            <p:spPr>
              <a:xfrm flipH="1">
                <a:off x="3371775" y="0"/>
                <a:ext cx="2207700" cy="53721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6ADBD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60" name="Google Shape;60;p13"/>
            <p:cNvCxnSpPr/>
            <p:nvPr/>
          </p:nvCxnSpPr>
          <p:spPr>
            <a:xfrm flipH="1">
              <a:off x="3524175" y="-228600"/>
              <a:ext cx="2207700" cy="5372100"/>
            </a:xfrm>
            <a:prstGeom prst="straightConnector1">
              <a:avLst/>
            </a:prstGeom>
            <a:noFill/>
            <a:ln w="19050" cap="flat" cmpd="sng">
              <a:solidFill>
                <a:srgbClr val="6ADBD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7F0ED33-AD32-4C33-85BB-32CDD38A7B6A}"/>
              </a:ext>
            </a:extLst>
          </p:cNvPr>
          <p:cNvSpPr txBox="1">
            <a:spLocks/>
          </p:cNvSpPr>
          <p:nvPr/>
        </p:nvSpPr>
        <p:spPr>
          <a:xfrm>
            <a:off x="359678" y="2922954"/>
            <a:ext cx="5769507" cy="162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>
              <a:defRPr lang="pt-BR"/>
            </a:defPPr>
            <a:lvl1pPr defTabSz="1219170">
              <a:buClr>
                <a:srgbClr val="000000"/>
              </a:buClr>
              <a:defRPr sz="1867" b="1" kern="0">
                <a:solidFill>
                  <a:srgbClr val="666666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2800" dirty="0"/>
              <a:t>Trabalho</a:t>
            </a:r>
            <a:r>
              <a:rPr lang="en-US" sz="2800" dirty="0"/>
              <a:t> Final – Turma 15</a:t>
            </a:r>
          </a:p>
          <a:p>
            <a:pPr>
              <a:lnSpc>
                <a:spcPct val="150000"/>
              </a:lnSpc>
            </a:pPr>
            <a:r>
              <a:rPr lang="da-DK" sz="2000" b="0" dirty="0">
                <a:solidFill>
                  <a:schemeClr val="bg1"/>
                </a:solidFill>
              </a:rPr>
              <a:t>Caso de Uso: iFood</a:t>
            </a:r>
          </a:p>
          <a:p>
            <a:endParaRPr lang="da-DK" sz="1600" b="0" dirty="0">
              <a:solidFill>
                <a:schemeClr val="bg1"/>
              </a:solidFill>
            </a:endParaRPr>
          </a:p>
          <a:p>
            <a:endParaRPr lang="en-US" sz="1600" b="0" dirty="0">
              <a:solidFill>
                <a:schemeClr val="bg1"/>
              </a:solidFill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295E716-2175-4DFD-8229-453249015B86}"/>
              </a:ext>
            </a:extLst>
          </p:cNvPr>
          <p:cNvSpPr/>
          <p:nvPr/>
        </p:nvSpPr>
        <p:spPr>
          <a:xfrm>
            <a:off x="8291981" y="2448476"/>
            <a:ext cx="2572633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GRUPO 11: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pt-BR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Bruno Correia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pt-BR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Gilson Costa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pt-BR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Vivian Liu</a:t>
            </a:r>
            <a:endParaRPr lang="pt-BR" sz="1400" b="1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algn="ctr"/>
            <a:endParaRPr lang="pt-BR" sz="1400" b="1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algn="ctr"/>
            <a:endParaRPr lang="pt-BR" sz="1400" b="1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algn="ctr"/>
            <a:endParaRPr lang="pt-BR" sz="1400" b="1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algn="ctr"/>
            <a:endParaRPr lang="pt-BR" sz="1400" b="1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algn="ctr"/>
            <a:endParaRPr lang="pt-BR" sz="1400" b="1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algn="ctr"/>
            <a:endParaRPr lang="pt-BR" sz="1400" b="1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algn="ctr"/>
            <a:endParaRPr lang="pt-BR" sz="1400" b="1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algn="ctr"/>
            <a:endParaRPr lang="pt-BR" sz="1400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2C8DF23-C1DF-4860-97B2-B24B5D8371AA}"/>
              </a:ext>
            </a:extLst>
          </p:cNvPr>
          <p:cNvSpPr/>
          <p:nvPr/>
        </p:nvSpPr>
        <p:spPr>
          <a:xfrm>
            <a:off x="407564" y="493907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Coordenadores: </a:t>
            </a:r>
          </a:p>
          <a:p>
            <a:r>
              <a:rPr lang="pt-BR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Profª</a:t>
            </a:r>
            <a:r>
              <a:rPr lang="pt-BR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pt-BR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Dr</a:t>
            </a:r>
            <a:r>
              <a:rPr lang="pt-BR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ª Alessandra de </a:t>
            </a:r>
            <a:r>
              <a:rPr lang="pt-BR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Álvila</a:t>
            </a:r>
            <a:r>
              <a:rPr lang="pt-BR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pt-BR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Montini</a:t>
            </a:r>
            <a:endParaRPr lang="pt-BR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r>
              <a:rPr lang="pt-BR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Profª</a:t>
            </a:r>
            <a:r>
              <a:rPr lang="pt-BR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Dr.  </a:t>
            </a:r>
            <a:r>
              <a:rPr lang="pt-BR" dirty="0">
                <a:solidFill>
                  <a:srgbClr val="434343"/>
                </a:solidFill>
                <a:latin typeface="Open Sans" panose="020B0604020202020204" charset="0"/>
              </a:rPr>
              <a:t>Adolpho Walter </a:t>
            </a:r>
            <a:r>
              <a:rPr lang="pt-BR" dirty="0" err="1">
                <a:solidFill>
                  <a:srgbClr val="434343"/>
                </a:solidFill>
                <a:latin typeface="Open Sans" panose="020B0604020202020204" charset="0"/>
              </a:rPr>
              <a:t>Pimazoni</a:t>
            </a:r>
            <a:r>
              <a:rPr lang="pt-BR" dirty="0">
                <a:solidFill>
                  <a:srgbClr val="434343"/>
                </a:solidFill>
                <a:latin typeface="Open Sans" panose="020B0604020202020204" charset="0"/>
              </a:rPr>
              <a:t> </a:t>
            </a:r>
            <a:r>
              <a:rPr lang="pt-BR" dirty="0" err="1">
                <a:solidFill>
                  <a:srgbClr val="434343"/>
                </a:solidFill>
                <a:latin typeface="Open Sans" panose="020B0604020202020204" charset="0"/>
              </a:rPr>
              <a:t>Canton</a:t>
            </a:r>
            <a:endParaRPr lang="pt-BR" dirty="0">
              <a:solidFill>
                <a:srgbClr val="434343"/>
              </a:solidFill>
              <a:latin typeface="Open Sans" panose="020B0604020202020204" charset="0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407564" y="4187414"/>
            <a:ext cx="43308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pt-BR" sz="1200" b="1" kern="0" dirty="0">
              <a:latin typeface="Open Sans"/>
              <a:ea typeface="Open Sans"/>
              <a:cs typeface="Open Sans"/>
              <a:sym typeface="Open Sans"/>
            </a:endParaRPr>
          </a:p>
          <a:p>
            <a:pPr defTabSz="1219170">
              <a:buClr>
                <a:srgbClr val="000000"/>
              </a:buClr>
            </a:pPr>
            <a:r>
              <a:rPr lang="pt-BR" sz="1200" b="1" kern="0" dirty="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04/08/2020</a:t>
            </a:r>
            <a:endParaRPr b="1" kern="0" dirty="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1390C85A-508E-4E95-BE63-C0D82347C71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t="41980" r="8724" b="41925"/>
          <a:stretch/>
        </p:blipFill>
        <p:spPr>
          <a:xfrm>
            <a:off x="6586620" y="6252850"/>
            <a:ext cx="1705361" cy="327947"/>
          </a:xfrm>
          <a:prstGeom prst="rect">
            <a:avLst/>
          </a:prstGeom>
        </p:spPr>
      </p:pic>
      <p:pic>
        <p:nvPicPr>
          <p:cNvPr id="25" name="Google Shape;62;p13">
            <a:extLst>
              <a:ext uri="{FF2B5EF4-FFF2-40B4-BE49-F238E27FC236}">
                <a16:creationId xmlns:a16="http://schemas.microsoft.com/office/drawing/2014/main" id="{9D548036-247A-46AE-9395-FBB4562CA03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 flipH="1">
            <a:off x="152229" y="77049"/>
            <a:ext cx="2628806" cy="2116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62;p13">
            <a:extLst>
              <a:ext uri="{FF2B5EF4-FFF2-40B4-BE49-F238E27FC236}">
                <a16:creationId xmlns:a16="http://schemas.microsoft.com/office/drawing/2014/main" id="{133F4F58-8FC1-4B43-86A6-8070512378E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259381" y="4383155"/>
            <a:ext cx="2932619" cy="247484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Espaço Reservado para Número de Slide 4">
            <a:extLst>
              <a:ext uri="{FF2B5EF4-FFF2-40B4-BE49-F238E27FC236}">
                <a16:creationId xmlns:a16="http://schemas.microsoft.com/office/drawing/2014/main" id="{324E0CE1-943E-4588-9409-DC85D4F20EE4}"/>
              </a:ext>
            </a:extLst>
          </p:cNvPr>
          <p:cNvSpPr txBox="1">
            <a:spLocks/>
          </p:cNvSpPr>
          <p:nvPr/>
        </p:nvSpPr>
        <p:spPr>
          <a:xfrm>
            <a:off x="11529390" y="379620"/>
            <a:ext cx="274983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FB8526-A7DF-44F1-A0A0-E2C9088E152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6ADBD9"/>
                </a:solidFill>
                <a:effectLst/>
                <a:uLnTx/>
                <a:uFillTx/>
                <a:latin typeface="Open Sans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23" name="Pentágono 22">
            <a:extLst>
              <a:ext uri="{FF2B5EF4-FFF2-40B4-BE49-F238E27FC236}">
                <a16:creationId xmlns:a16="http://schemas.microsoft.com/office/drawing/2014/main" id="{4AD239BA-824E-43B9-8187-7854EE9708F6}"/>
              </a:ext>
            </a:extLst>
          </p:cNvPr>
          <p:cNvSpPr/>
          <p:nvPr/>
        </p:nvSpPr>
        <p:spPr>
          <a:xfrm>
            <a:off x="11529391" y="419377"/>
            <a:ext cx="274983" cy="251791"/>
          </a:xfrm>
          <a:prstGeom prst="pentagon">
            <a:avLst/>
          </a:prstGeom>
          <a:noFill/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17BD6BCE-F462-485D-9D0B-776FE951363B}"/>
              </a:ext>
            </a:extLst>
          </p:cNvPr>
          <p:cNvSpPr txBox="1">
            <a:spLocks/>
          </p:cNvSpPr>
          <p:nvPr/>
        </p:nvSpPr>
        <p:spPr>
          <a:xfrm>
            <a:off x="3646800" y="165600"/>
            <a:ext cx="6624736" cy="71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spcBef>
                <a:spcPct val="0"/>
              </a:spcBef>
              <a:buNone/>
              <a:defRPr sz="2400">
                <a:solidFill>
                  <a:srgbClr val="02BAB1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Ifood</a:t>
            </a:r>
            <a:endParaRPr lang="en-US" b="1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9FD0D171-BCB4-4D57-97FC-2B4C1F5BDCF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t="41980" r="8724" b="41925"/>
          <a:stretch/>
        </p:blipFill>
        <p:spPr>
          <a:xfrm>
            <a:off x="6544277" y="6347292"/>
            <a:ext cx="1705361" cy="327947"/>
          </a:xfrm>
          <a:prstGeom prst="rect">
            <a:avLst/>
          </a:prstGeom>
        </p:spPr>
      </p:pic>
      <p:pic>
        <p:nvPicPr>
          <p:cNvPr id="10" name="Picture 4" descr="Os bastidores do seu pedido no iFood | by Thiago Capeleiro | iFood ...">
            <a:extLst>
              <a:ext uri="{FF2B5EF4-FFF2-40B4-BE49-F238E27FC236}">
                <a16:creationId xmlns:a16="http://schemas.microsoft.com/office/drawing/2014/main" id="{A69730EE-7C6B-4BFA-80BC-530FB86965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423" r="47135"/>
          <a:stretch/>
        </p:blipFill>
        <p:spPr bwMode="auto">
          <a:xfrm>
            <a:off x="0" y="0"/>
            <a:ext cx="333726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2BCE0F1-27F2-4A61-A6E7-FEA7F0A8CBF6}"/>
              </a:ext>
            </a:extLst>
          </p:cNvPr>
          <p:cNvSpPr txBox="1">
            <a:spLocks/>
          </p:cNvSpPr>
          <p:nvPr/>
        </p:nvSpPr>
        <p:spPr>
          <a:xfrm>
            <a:off x="3574007" y="3203336"/>
            <a:ext cx="6624736" cy="71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spcBef>
                <a:spcPct val="0"/>
              </a:spcBef>
              <a:buNone/>
              <a:defRPr sz="2400">
                <a:solidFill>
                  <a:srgbClr val="02BAB1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O </a:t>
            </a:r>
            <a:r>
              <a:rPr lang="en-US" b="1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desafio</a:t>
            </a:r>
            <a:r>
              <a:rPr lang="en-US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!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7C26746-130B-4E65-853B-A51A4BA20A1A}"/>
              </a:ext>
            </a:extLst>
          </p:cNvPr>
          <p:cNvSpPr txBox="1"/>
          <p:nvPr/>
        </p:nvSpPr>
        <p:spPr>
          <a:xfrm>
            <a:off x="3642002" y="4912143"/>
            <a:ext cx="180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Entendimento da base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D19FEB8-6BCC-47E9-A7D4-558BBF3870D3}"/>
              </a:ext>
            </a:extLst>
          </p:cNvPr>
          <p:cNvSpPr txBox="1"/>
          <p:nvPr/>
        </p:nvSpPr>
        <p:spPr>
          <a:xfrm>
            <a:off x="5706976" y="4912143"/>
            <a:ext cx="180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Nova</a:t>
            </a:r>
          </a:p>
          <a:p>
            <a:pPr algn="ctr"/>
            <a:r>
              <a:rPr lang="pt-BR" sz="1400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Clusterização</a:t>
            </a:r>
            <a:endParaRPr lang="pt-BR" sz="1400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4983277-E0F0-4833-9158-DFF20491B04B}"/>
              </a:ext>
            </a:extLst>
          </p:cNvPr>
          <p:cNvSpPr txBox="1"/>
          <p:nvPr/>
        </p:nvSpPr>
        <p:spPr>
          <a:xfrm>
            <a:off x="7771950" y="4868441"/>
            <a:ext cx="180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Recomendação</a:t>
            </a:r>
          </a:p>
          <a:p>
            <a:pPr algn="ctr"/>
            <a:r>
              <a:rPr lang="pt-BR" sz="1400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de pedidos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C5E8E60-6B03-4F60-9486-780D851B4080}"/>
              </a:ext>
            </a:extLst>
          </p:cNvPr>
          <p:cNvSpPr txBox="1"/>
          <p:nvPr/>
        </p:nvSpPr>
        <p:spPr>
          <a:xfrm>
            <a:off x="9834896" y="4874905"/>
            <a:ext cx="180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Como gerar valor para a cia?</a:t>
            </a:r>
          </a:p>
        </p:txBody>
      </p:sp>
      <p:pic>
        <p:nvPicPr>
          <p:cNvPr id="3074" name="Picture 2" descr="cluster Icon 1455009">
            <a:extLst>
              <a:ext uri="{FF2B5EF4-FFF2-40B4-BE49-F238E27FC236}">
                <a16:creationId xmlns:a16="http://schemas.microsoft.com/office/drawing/2014/main" id="{A5A84822-32F8-4D09-AECF-E1C3BBF0B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300" y="4026456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Food Icon 3073486">
            <a:extLst>
              <a:ext uri="{FF2B5EF4-FFF2-40B4-BE49-F238E27FC236}">
                <a16:creationId xmlns:a16="http://schemas.microsoft.com/office/drawing/2014/main" id="{C27AE6E1-38ED-478C-8CAE-E08127BB7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0598" y="4026456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Machine Learning Icon 2010152">
            <a:extLst>
              <a:ext uri="{FF2B5EF4-FFF2-40B4-BE49-F238E27FC236}">
                <a16:creationId xmlns:a16="http://schemas.microsoft.com/office/drawing/2014/main" id="{3DB8BE8A-5DAA-4CDB-AFDE-165822EC4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4896" y="4026456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search data base Icon 2436717">
            <a:extLst>
              <a:ext uri="{FF2B5EF4-FFF2-40B4-BE49-F238E27FC236}">
                <a16:creationId xmlns:a16="http://schemas.microsoft.com/office/drawing/2014/main" id="{2872A74B-46CF-4363-9501-A62D25CDD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002" y="4026456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tângulo 20">
            <a:extLst>
              <a:ext uri="{FF2B5EF4-FFF2-40B4-BE49-F238E27FC236}">
                <a16:creationId xmlns:a16="http://schemas.microsoft.com/office/drawing/2014/main" id="{8FCAE656-BADC-437C-B212-BB9D60CFD12D}"/>
              </a:ext>
            </a:extLst>
          </p:cNvPr>
          <p:cNvSpPr/>
          <p:nvPr/>
        </p:nvSpPr>
        <p:spPr>
          <a:xfrm>
            <a:off x="3720212" y="973316"/>
            <a:ext cx="7200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O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Ifood</a:t>
            </a:r>
            <a:r>
              <a:rPr lang="pt-BR" sz="1400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é uma food tech criada em 2011, líder da categoria no país e segundo maior e-commerce do Brasil.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400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Com +80k restaurantes cadastrados na plataforma e +200k entregadores, sua base de dados assim como seus desafios crescem a cada dia.  Para estar a frente temos que sempre pensar em novas abordagens.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Com a disponibilização da base de dados interna da companhia, nosso intuito é aplicar os conhecimentos adquiridos para entender as informações disponíveis sugerir novas abordagens para gerar valor para a companhia.</a:t>
            </a:r>
          </a:p>
        </p:txBody>
      </p:sp>
    </p:spTree>
    <p:extLst>
      <p:ext uri="{BB962C8B-B14F-4D97-AF65-F5344CB8AC3E}">
        <p14:creationId xmlns:p14="http://schemas.microsoft.com/office/powerpoint/2010/main" val="1333612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 59">
            <a:extLst>
              <a:ext uri="{FF2B5EF4-FFF2-40B4-BE49-F238E27FC236}">
                <a16:creationId xmlns:a16="http://schemas.microsoft.com/office/drawing/2014/main" id="{98A90F12-53B6-439E-94B6-60428FA8226D}"/>
              </a:ext>
            </a:extLst>
          </p:cNvPr>
          <p:cNvSpPr/>
          <p:nvPr/>
        </p:nvSpPr>
        <p:spPr>
          <a:xfrm>
            <a:off x="2382904" y="2038613"/>
            <a:ext cx="8023090" cy="2136783"/>
          </a:xfrm>
          <a:prstGeom prst="rect">
            <a:avLst/>
          </a:prstGeom>
          <a:gradFill flip="none" rotWithShape="1">
            <a:gsLst>
              <a:gs pos="0">
                <a:srgbClr val="DCF6FD"/>
              </a:gs>
              <a:gs pos="98000">
                <a:srgbClr val="C0D4F6"/>
              </a:gs>
              <a:gs pos="66000">
                <a:srgbClr val="C7E1FA"/>
              </a:gs>
              <a:gs pos="34000">
                <a:srgbClr val="CBF0F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5964F976-5309-4A1A-B211-460B94D9DA03}"/>
              </a:ext>
            </a:extLst>
          </p:cNvPr>
          <p:cNvSpPr/>
          <p:nvPr/>
        </p:nvSpPr>
        <p:spPr>
          <a:xfrm>
            <a:off x="2382902" y="2839816"/>
            <a:ext cx="8138264" cy="983512"/>
          </a:xfrm>
          <a:prstGeom prst="rect">
            <a:avLst/>
          </a:prstGeom>
          <a:gradFill flip="none" rotWithShape="1">
            <a:gsLst>
              <a:gs pos="1000">
                <a:srgbClr val="2BD6D3"/>
              </a:gs>
              <a:gs pos="100000">
                <a:srgbClr val="79A8EE"/>
              </a:gs>
              <a:gs pos="68000">
                <a:srgbClr val="61B7F3"/>
              </a:gs>
              <a:gs pos="37000">
                <a:srgbClr val="32D5F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7F95E81-C50F-459F-827F-706312BA7A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t="41980" r="8724" b="41925"/>
          <a:stretch/>
        </p:blipFill>
        <p:spPr>
          <a:xfrm>
            <a:off x="6544277" y="6347292"/>
            <a:ext cx="1705361" cy="327947"/>
          </a:xfrm>
          <a:prstGeom prst="rect">
            <a:avLst/>
          </a:prstGeom>
        </p:spPr>
      </p:pic>
      <p:sp>
        <p:nvSpPr>
          <p:cNvPr id="8" name="Espaço Reservado para Número de Slide 4">
            <a:extLst>
              <a:ext uri="{FF2B5EF4-FFF2-40B4-BE49-F238E27FC236}">
                <a16:creationId xmlns:a16="http://schemas.microsoft.com/office/drawing/2014/main" id="{6FB72034-355D-49BB-87C1-9B091858F2F2}"/>
              </a:ext>
            </a:extLst>
          </p:cNvPr>
          <p:cNvSpPr txBox="1">
            <a:spLocks/>
          </p:cNvSpPr>
          <p:nvPr/>
        </p:nvSpPr>
        <p:spPr>
          <a:xfrm>
            <a:off x="11529390" y="379620"/>
            <a:ext cx="274983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FB8526-A7DF-44F1-A0A0-E2C9088E152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6ADBD9"/>
                </a:solidFill>
                <a:effectLst/>
                <a:uLnTx/>
                <a:uFillTx/>
                <a:latin typeface="Open Sans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9" name="Pentágono 8">
            <a:extLst>
              <a:ext uri="{FF2B5EF4-FFF2-40B4-BE49-F238E27FC236}">
                <a16:creationId xmlns:a16="http://schemas.microsoft.com/office/drawing/2014/main" id="{644FBE2D-7350-4B46-8585-E858DF5CAE69}"/>
              </a:ext>
            </a:extLst>
          </p:cNvPr>
          <p:cNvSpPr/>
          <p:nvPr/>
        </p:nvSpPr>
        <p:spPr>
          <a:xfrm>
            <a:off x="11529391" y="419377"/>
            <a:ext cx="274983" cy="251791"/>
          </a:xfrm>
          <a:prstGeom prst="pentagon">
            <a:avLst/>
          </a:prstGeom>
          <a:noFill/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11" name="Espaço Reservado para Data 3">
            <a:extLst>
              <a:ext uri="{FF2B5EF4-FFF2-40B4-BE49-F238E27FC236}">
                <a16:creationId xmlns:a16="http://schemas.microsoft.com/office/drawing/2014/main" id="{A0A8F5ED-4B97-42B0-8108-1DB2ADE1D6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3357880" cy="336050"/>
          </a:xfrm>
        </p:spPr>
        <p:txBody>
          <a:bodyPr/>
          <a:lstStyle/>
          <a:p>
            <a:r>
              <a:rPr lang="pt-BR" dirty="0"/>
              <a:t>@2020 LABDATA FIA. Copyright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rights</a:t>
            </a:r>
            <a:r>
              <a:rPr lang="pt-BR" dirty="0"/>
              <a:t> </a:t>
            </a:r>
            <a:r>
              <a:rPr lang="pt-BR" dirty="0" err="1"/>
              <a:t>reserved</a:t>
            </a:r>
            <a:r>
              <a:rPr lang="pt-BR" dirty="0"/>
              <a:t>.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CB04613D-7177-44FE-83E1-41D8C0DFBC64}"/>
              </a:ext>
            </a:extLst>
          </p:cNvPr>
          <p:cNvSpPr/>
          <p:nvPr/>
        </p:nvSpPr>
        <p:spPr>
          <a:xfrm>
            <a:off x="99677" y="2149266"/>
            <a:ext cx="205126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 Bold" pitchFamily="50" charset="0"/>
                <a:ea typeface="+mn-ea"/>
                <a:cs typeface="Gotham Bold" pitchFamily="50" charset="0"/>
              </a:rPr>
              <a:t>FONTES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2B4CF84C-330C-44A1-ACB4-7D5303B11D30}"/>
              </a:ext>
            </a:extLst>
          </p:cNvPr>
          <p:cNvSpPr/>
          <p:nvPr/>
        </p:nvSpPr>
        <p:spPr>
          <a:xfrm>
            <a:off x="128536" y="1461675"/>
            <a:ext cx="2204461" cy="5652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Gotham Bold" pitchFamily="50" charset="0"/>
              </a:rPr>
              <a:t>DADOS</a:t>
            </a:r>
          </a:p>
        </p:txBody>
      </p:sp>
      <p:sp>
        <p:nvSpPr>
          <p:cNvPr id="46" name="Title Placeholder 1">
            <a:extLst>
              <a:ext uri="{FF2B5EF4-FFF2-40B4-BE49-F238E27FC236}">
                <a16:creationId xmlns:a16="http://schemas.microsoft.com/office/drawing/2014/main" id="{EE88F49F-3B63-47DF-95FD-716B9B0A9881}"/>
              </a:ext>
            </a:extLst>
          </p:cNvPr>
          <p:cNvSpPr txBox="1">
            <a:spLocks/>
          </p:cNvSpPr>
          <p:nvPr/>
        </p:nvSpPr>
        <p:spPr>
          <a:xfrm>
            <a:off x="360000" y="165600"/>
            <a:ext cx="6624736" cy="71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spcBef>
                <a:spcPct val="0"/>
              </a:spcBef>
              <a:buNone/>
              <a:defRPr sz="2400">
                <a:solidFill>
                  <a:srgbClr val="02BAB1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Pipeline de dados</a:t>
            </a:r>
          </a:p>
        </p:txBody>
      </p:sp>
      <p:pic>
        <p:nvPicPr>
          <p:cNvPr id="47" name="Picture 2" descr="Cloud Icon 677917">
            <a:extLst>
              <a:ext uri="{FF2B5EF4-FFF2-40B4-BE49-F238E27FC236}">
                <a16:creationId xmlns:a16="http://schemas.microsoft.com/office/drawing/2014/main" id="{908AC8D2-6421-421C-963C-6444EFABF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515" y="2485584"/>
            <a:ext cx="571307" cy="48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CaixaDeTexto 52">
            <a:extLst>
              <a:ext uri="{FF2B5EF4-FFF2-40B4-BE49-F238E27FC236}">
                <a16:creationId xmlns:a16="http://schemas.microsoft.com/office/drawing/2014/main" id="{467BEAA3-AB46-4A2A-9690-90DEA3BC6CCC}"/>
              </a:ext>
            </a:extLst>
          </p:cNvPr>
          <p:cNvSpPr txBox="1"/>
          <p:nvPr/>
        </p:nvSpPr>
        <p:spPr>
          <a:xfrm>
            <a:off x="112481" y="3032241"/>
            <a:ext cx="2381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Orders</a:t>
            </a:r>
            <a:r>
              <a:rPr lang="pt-BR" sz="1400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pt-BR" sz="1400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with</a:t>
            </a:r>
            <a:r>
              <a:rPr lang="pt-BR" sz="1400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pt-BR" sz="1400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cost</a:t>
            </a:r>
            <a:r>
              <a:rPr lang="pt-BR" sz="1400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pt-BR" sz="1400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revenue</a:t>
            </a:r>
            <a:endParaRPr lang="pt-BR" sz="1400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685BCCD9-B17B-406D-9C18-43EEE9229B4F}"/>
              </a:ext>
            </a:extLst>
          </p:cNvPr>
          <p:cNvSpPr txBox="1"/>
          <p:nvPr/>
        </p:nvSpPr>
        <p:spPr>
          <a:xfrm>
            <a:off x="112481" y="3768557"/>
            <a:ext cx="2381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Orders</a:t>
            </a:r>
            <a:endParaRPr lang="pt-BR" sz="1400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8E84FB4-C69B-48C1-86D4-707C8E85180C}"/>
              </a:ext>
            </a:extLst>
          </p:cNvPr>
          <p:cNvSpPr txBox="1"/>
          <p:nvPr/>
        </p:nvSpPr>
        <p:spPr>
          <a:xfrm>
            <a:off x="112481" y="4136715"/>
            <a:ext cx="2381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Marketing </a:t>
            </a:r>
            <a:r>
              <a:rPr lang="pt-BR" sz="1400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push</a:t>
            </a:r>
            <a:r>
              <a:rPr lang="pt-BR" sz="1400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full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0C6F7D98-443B-4506-A51B-43356F24383F}"/>
              </a:ext>
            </a:extLst>
          </p:cNvPr>
          <p:cNvSpPr txBox="1"/>
          <p:nvPr/>
        </p:nvSpPr>
        <p:spPr>
          <a:xfrm>
            <a:off x="112481" y="3400399"/>
            <a:ext cx="2381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Session</a:t>
            </a:r>
            <a:r>
              <a:rPr lang="pt-BR" sz="1400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pt-BR" sz="1400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visits</a:t>
            </a:r>
            <a:endParaRPr lang="pt-BR" sz="1400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DEEBFC9E-C2C3-4848-AF57-8CE9EEF9A396}"/>
              </a:ext>
            </a:extLst>
          </p:cNvPr>
          <p:cNvSpPr txBox="1"/>
          <p:nvPr/>
        </p:nvSpPr>
        <p:spPr>
          <a:xfrm>
            <a:off x="112481" y="4515033"/>
            <a:ext cx="2381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Customer</a:t>
            </a:r>
            <a:r>
              <a:rPr lang="pt-BR" sz="1400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pt-BR" sz="1400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segmentation</a:t>
            </a:r>
            <a:endParaRPr lang="pt-BR" sz="1400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02BD29E7-FDF0-4D5F-A046-CE8DA8529ABA}"/>
              </a:ext>
            </a:extLst>
          </p:cNvPr>
          <p:cNvSpPr/>
          <p:nvPr/>
        </p:nvSpPr>
        <p:spPr>
          <a:xfrm>
            <a:off x="2382903" y="1475088"/>
            <a:ext cx="7744857" cy="5635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dirty="0">
                <a:solidFill>
                  <a:prstClr val="white"/>
                </a:solidFill>
                <a:latin typeface="Gotham Bold" pitchFamily="50" charset="0"/>
                <a:cs typeface="Gotham Bold" pitchFamily="50" charset="0"/>
              </a:rPr>
              <a:t>ÁREA DE TRABALHO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Gotham Bold" pitchFamily="50" charset="0"/>
            </a:endParaRP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D00CF76D-2402-46A1-B6F6-2B360C486141}"/>
              </a:ext>
            </a:extLst>
          </p:cNvPr>
          <p:cNvSpPr/>
          <p:nvPr/>
        </p:nvSpPr>
        <p:spPr>
          <a:xfrm>
            <a:off x="10001526" y="1473165"/>
            <a:ext cx="1962541" cy="5635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Gotham Bold" pitchFamily="50" charset="0"/>
              </a:rPr>
              <a:t>CONSUMO</a:t>
            </a:r>
          </a:p>
        </p:txBody>
      </p:sp>
      <p:sp>
        <p:nvSpPr>
          <p:cNvPr id="62" name="Seta: Divisa 61">
            <a:extLst>
              <a:ext uri="{FF2B5EF4-FFF2-40B4-BE49-F238E27FC236}">
                <a16:creationId xmlns:a16="http://schemas.microsoft.com/office/drawing/2014/main" id="{47D06D05-F7F8-4901-979C-F80D6C2C2064}"/>
              </a:ext>
            </a:extLst>
          </p:cNvPr>
          <p:cNvSpPr/>
          <p:nvPr/>
        </p:nvSpPr>
        <p:spPr>
          <a:xfrm>
            <a:off x="4052214" y="2038613"/>
            <a:ext cx="882503" cy="3198896"/>
          </a:xfrm>
          <a:prstGeom prst="chevron">
            <a:avLst>
              <a:gd name="adj" fmla="val 880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eta: Divisa 63">
            <a:extLst>
              <a:ext uri="{FF2B5EF4-FFF2-40B4-BE49-F238E27FC236}">
                <a16:creationId xmlns:a16="http://schemas.microsoft.com/office/drawing/2014/main" id="{4D662811-9A9F-47F3-BF3F-70D1A0C51EF1}"/>
              </a:ext>
            </a:extLst>
          </p:cNvPr>
          <p:cNvSpPr/>
          <p:nvPr/>
        </p:nvSpPr>
        <p:spPr>
          <a:xfrm>
            <a:off x="7176820" y="2038614"/>
            <a:ext cx="882503" cy="3198896"/>
          </a:xfrm>
          <a:prstGeom prst="chevron">
            <a:avLst>
              <a:gd name="adj" fmla="val 880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etângulo 64">
            <a:extLst>
              <a:ext uri="{FF2B5EF4-FFF2-40B4-BE49-F238E27FC236}">
                <a16:creationId xmlns:a16="http://schemas.microsoft.com/office/drawing/2014/main" id="{D4B087AD-6212-4B82-A5C9-CA5E36942C82}"/>
              </a:ext>
            </a:extLst>
          </p:cNvPr>
          <p:cNvSpPr/>
          <p:nvPr/>
        </p:nvSpPr>
        <p:spPr>
          <a:xfrm>
            <a:off x="4998239" y="2291265"/>
            <a:ext cx="205126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 Bold" pitchFamily="50" charset="0"/>
                <a:ea typeface="+mn-ea"/>
                <a:cs typeface="Gotham Bold" pitchFamily="50" charset="0"/>
              </a:rPr>
              <a:t>PREPROCESS</a:t>
            </a:r>
          </a:p>
        </p:txBody>
      </p:sp>
      <p:sp>
        <p:nvSpPr>
          <p:cNvPr id="76" name="Retângulo 75">
            <a:extLst>
              <a:ext uri="{FF2B5EF4-FFF2-40B4-BE49-F238E27FC236}">
                <a16:creationId xmlns:a16="http://schemas.microsoft.com/office/drawing/2014/main" id="{2A91F9FF-9FFA-42C5-B7EA-96FE66BFCA99}"/>
              </a:ext>
            </a:extLst>
          </p:cNvPr>
          <p:cNvSpPr/>
          <p:nvPr/>
        </p:nvSpPr>
        <p:spPr>
          <a:xfrm>
            <a:off x="2458820" y="3174290"/>
            <a:ext cx="20512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 Book" pitchFamily="50" charset="0"/>
                <a:ea typeface="+mn-ea"/>
                <a:cs typeface="Gotham Book" pitchFamily="50" charset="0"/>
              </a:rPr>
              <a:t>Dados Originais</a:t>
            </a:r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56B7C347-FB03-41F1-A939-72C5294637BA}"/>
              </a:ext>
            </a:extLst>
          </p:cNvPr>
          <p:cNvSpPr/>
          <p:nvPr/>
        </p:nvSpPr>
        <p:spPr>
          <a:xfrm>
            <a:off x="7789420" y="2291265"/>
            <a:ext cx="205126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 Bold" pitchFamily="50" charset="0"/>
                <a:ea typeface="+mn-ea"/>
                <a:cs typeface="Gotham Bold" pitchFamily="50" charset="0"/>
              </a:rPr>
              <a:t>ENRICH</a:t>
            </a:r>
          </a:p>
        </p:txBody>
      </p:sp>
      <p:sp>
        <p:nvSpPr>
          <p:cNvPr id="81" name="Retângulo 80">
            <a:extLst>
              <a:ext uri="{FF2B5EF4-FFF2-40B4-BE49-F238E27FC236}">
                <a16:creationId xmlns:a16="http://schemas.microsoft.com/office/drawing/2014/main" id="{344300C3-F1B9-47D3-8CEE-DE1CF4BFF24C}"/>
              </a:ext>
            </a:extLst>
          </p:cNvPr>
          <p:cNvSpPr/>
          <p:nvPr/>
        </p:nvSpPr>
        <p:spPr>
          <a:xfrm>
            <a:off x="2382902" y="4231823"/>
            <a:ext cx="7909178" cy="858480"/>
          </a:xfrm>
          <a:prstGeom prst="rect">
            <a:avLst/>
          </a:prstGeom>
          <a:gradFill flip="none" rotWithShape="1">
            <a:gsLst>
              <a:gs pos="0">
                <a:srgbClr val="DCF6FD"/>
              </a:gs>
              <a:gs pos="98000">
                <a:srgbClr val="C0D4F6"/>
              </a:gs>
              <a:gs pos="66000">
                <a:srgbClr val="C7E1FA"/>
              </a:gs>
              <a:gs pos="34000">
                <a:srgbClr val="CBF0F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Retângulo 81">
            <a:extLst>
              <a:ext uri="{FF2B5EF4-FFF2-40B4-BE49-F238E27FC236}">
                <a16:creationId xmlns:a16="http://schemas.microsoft.com/office/drawing/2014/main" id="{1FFCF6D6-2707-43F2-A42E-7616ECB153BA}"/>
              </a:ext>
            </a:extLst>
          </p:cNvPr>
          <p:cNvSpPr/>
          <p:nvPr/>
        </p:nvSpPr>
        <p:spPr>
          <a:xfrm>
            <a:off x="2313416" y="2291265"/>
            <a:ext cx="205126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 Bold" pitchFamily="50" charset="0"/>
                <a:ea typeface="+mn-ea"/>
                <a:cs typeface="Gotham Bold" pitchFamily="50" charset="0"/>
              </a:rPr>
              <a:t>RAW</a:t>
            </a:r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90E4A581-6827-4C2D-BBC7-C646E44F3BAF}"/>
              </a:ext>
            </a:extLst>
          </p:cNvPr>
          <p:cNvSpPr/>
          <p:nvPr/>
        </p:nvSpPr>
        <p:spPr>
          <a:xfrm>
            <a:off x="5109144" y="4260307"/>
            <a:ext cx="205126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 Bold" pitchFamily="50" charset="0"/>
                <a:ea typeface="+mn-ea"/>
                <a:cs typeface="Gotham Bold" pitchFamily="50" charset="0"/>
              </a:rPr>
              <a:t>SANDBOX</a:t>
            </a:r>
          </a:p>
        </p:txBody>
      </p:sp>
      <p:sp>
        <p:nvSpPr>
          <p:cNvPr id="63" name="Retângulo 62">
            <a:extLst>
              <a:ext uri="{FF2B5EF4-FFF2-40B4-BE49-F238E27FC236}">
                <a16:creationId xmlns:a16="http://schemas.microsoft.com/office/drawing/2014/main" id="{290C205E-8F12-4631-B839-669BCC956233}"/>
              </a:ext>
            </a:extLst>
          </p:cNvPr>
          <p:cNvSpPr/>
          <p:nvPr/>
        </p:nvSpPr>
        <p:spPr>
          <a:xfrm>
            <a:off x="2382904" y="2038611"/>
            <a:ext cx="9731656" cy="1170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C2D4D363-5CC1-4142-95E9-6898F7C85406}"/>
              </a:ext>
            </a:extLst>
          </p:cNvPr>
          <p:cNvSpPr txBox="1"/>
          <p:nvPr/>
        </p:nvSpPr>
        <p:spPr>
          <a:xfrm>
            <a:off x="980168" y="2613508"/>
            <a:ext cx="4117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S3</a:t>
            </a:r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96690A69-318B-43A0-BC73-1A5DDACFF289}"/>
              </a:ext>
            </a:extLst>
          </p:cNvPr>
          <p:cNvSpPr/>
          <p:nvPr/>
        </p:nvSpPr>
        <p:spPr>
          <a:xfrm>
            <a:off x="5229999" y="2889402"/>
            <a:ext cx="205126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 Book" pitchFamily="50" charset="0"/>
                <a:ea typeface="+mn-ea"/>
                <a:cs typeface="Gotham Book" pitchFamily="50" charset="0"/>
              </a:rPr>
              <a:t>Retirada de duplicações, nulos e colunas irrelevantes</a:t>
            </a:r>
          </a:p>
        </p:txBody>
      </p:sp>
      <p:sp>
        <p:nvSpPr>
          <p:cNvPr id="86" name="Retângulo 85">
            <a:extLst>
              <a:ext uri="{FF2B5EF4-FFF2-40B4-BE49-F238E27FC236}">
                <a16:creationId xmlns:a16="http://schemas.microsoft.com/office/drawing/2014/main" id="{E81B7BB7-FF86-41E5-8AD4-97FD77069998}"/>
              </a:ext>
            </a:extLst>
          </p:cNvPr>
          <p:cNvSpPr/>
          <p:nvPr/>
        </p:nvSpPr>
        <p:spPr>
          <a:xfrm>
            <a:off x="8121433" y="2997124"/>
            <a:ext cx="20512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 Book" pitchFamily="50" charset="0"/>
                <a:ea typeface="+mn-ea"/>
                <a:cs typeface="Gotham Book" pitchFamily="50" charset="0"/>
              </a:rPr>
              <a:t>Dados agrupados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dirty="0" err="1">
                <a:solidFill>
                  <a:prstClr val="black"/>
                </a:solidFill>
                <a:latin typeface="Gotham Book" pitchFamily="50" charset="0"/>
                <a:cs typeface="Gotham Book" pitchFamily="50" charset="0"/>
              </a:rPr>
              <a:t>Joins</a:t>
            </a: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ook" pitchFamily="50" charset="0"/>
              <a:ea typeface="+mn-ea"/>
              <a:cs typeface="Gotham Book" pitchFamily="50" charset="0"/>
            </a:endParaRPr>
          </a:p>
        </p:txBody>
      </p:sp>
      <p:sp>
        <p:nvSpPr>
          <p:cNvPr id="87" name="Retângulo 86">
            <a:extLst>
              <a:ext uri="{FF2B5EF4-FFF2-40B4-BE49-F238E27FC236}">
                <a16:creationId xmlns:a16="http://schemas.microsoft.com/office/drawing/2014/main" id="{F0828BAA-B923-4225-A5F5-3A43CDA2CF42}"/>
              </a:ext>
            </a:extLst>
          </p:cNvPr>
          <p:cNvSpPr/>
          <p:nvPr/>
        </p:nvSpPr>
        <p:spPr>
          <a:xfrm>
            <a:off x="3745936" y="4611478"/>
            <a:ext cx="48236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 Book" pitchFamily="50" charset="0"/>
                <a:ea typeface="+mn-ea"/>
                <a:cs typeface="Gotham Book" pitchFamily="50" charset="0"/>
              </a:rPr>
              <a:t>Área para construção da ABT</a:t>
            </a:r>
          </a:p>
        </p:txBody>
      </p:sp>
      <p:sp>
        <p:nvSpPr>
          <p:cNvPr id="66" name="Seta: Pentágono 12">
            <a:extLst>
              <a:ext uri="{FF2B5EF4-FFF2-40B4-BE49-F238E27FC236}">
                <a16:creationId xmlns:a16="http://schemas.microsoft.com/office/drawing/2014/main" id="{50D05B12-D888-4246-B410-694F75C39F70}"/>
              </a:ext>
            </a:extLst>
          </p:cNvPr>
          <p:cNvSpPr/>
          <p:nvPr/>
        </p:nvSpPr>
        <p:spPr>
          <a:xfrm rot="10800000">
            <a:off x="10001526" y="2139103"/>
            <a:ext cx="1989369" cy="2951197"/>
          </a:xfrm>
          <a:custGeom>
            <a:avLst/>
            <a:gdLst>
              <a:gd name="connsiteX0" fmla="*/ 0 w 3034636"/>
              <a:gd name="connsiteY0" fmla="*/ 0 h 1552353"/>
              <a:gd name="connsiteX1" fmla="*/ 2184040 w 3034636"/>
              <a:gd name="connsiteY1" fmla="*/ 0 h 1552353"/>
              <a:gd name="connsiteX2" fmla="*/ 3034636 w 3034636"/>
              <a:gd name="connsiteY2" fmla="*/ 776177 h 1552353"/>
              <a:gd name="connsiteX3" fmla="*/ 2184040 w 3034636"/>
              <a:gd name="connsiteY3" fmla="*/ 1552353 h 1552353"/>
              <a:gd name="connsiteX4" fmla="*/ 0 w 3034636"/>
              <a:gd name="connsiteY4" fmla="*/ 1552353 h 1552353"/>
              <a:gd name="connsiteX5" fmla="*/ 0 w 3034636"/>
              <a:gd name="connsiteY5" fmla="*/ 0 h 1552353"/>
              <a:gd name="connsiteX0" fmla="*/ 0 w 2184040"/>
              <a:gd name="connsiteY0" fmla="*/ 0 h 1552353"/>
              <a:gd name="connsiteX1" fmla="*/ 2184040 w 2184040"/>
              <a:gd name="connsiteY1" fmla="*/ 0 h 1552353"/>
              <a:gd name="connsiteX2" fmla="*/ 1227101 w 2184040"/>
              <a:gd name="connsiteY2" fmla="*/ 648587 h 1552353"/>
              <a:gd name="connsiteX3" fmla="*/ 2184040 w 2184040"/>
              <a:gd name="connsiteY3" fmla="*/ 1552353 h 1552353"/>
              <a:gd name="connsiteX4" fmla="*/ 0 w 2184040"/>
              <a:gd name="connsiteY4" fmla="*/ 1552353 h 1552353"/>
              <a:gd name="connsiteX5" fmla="*/ 0 w 2184040"/>
              <a:gd name="connsiteY5" fmla="*/ 0 h 1552353"/>
              <a:gd name="connsiteX0" fmla="*/ 0 w 2184040"/>
              <a:gd name="connsiteY0" fmla="*/ 0 h 1552353"/>
              <a:gd name="connsiteX1" fmla="*/ 2184040 w 2184040"/>
              <a:gd name="connsiteY1" fmla="*/ 0 h 1552353"/>
              <a:gd name="connsiteX2" fmla="*/ 1724285 w 2184040"/>
              <a:gd name="connsiteY2" fmla="*/ 850640 h 1552353"/>
              <a:gd name="connsiteX3" fmla="*/ 2184040 w 2184040"/>
              <a:gd name="connsiteY3" fmla="*/ 1552353 h 1552353"/>
              <a:gd name="connsiteX4" fmla="*/ 0 w 2184040"/>
              <a:gd name="connsiteY4" fmla="*/ 1552353 h 1552353"/>
              <a:gd name="connsiteX5" fmla="*/ 0 w 2184040"/>
              <a:gd name="connsiteY5" fmla="*/ 0 h 1552353"/>
              <a:gd name="connsiteX0" fmla="*/ 0 w 2252617"/>
              <a:gd name="connsiteY0" fmla="*/ 0 h 1552353"/>
              <a:gd name="connsiteX1" fmla="*/ 2252617 w 2252617"/>
              <a:gd name="connsiteY1" fmla="*/ 21269 h 1552353"/>
              <a:gd name="connsiteX2" fmla="*/ 1724285 w 2252617"/>
              <a:gd name="connsiteY2" fmla="*/ 850640 h 1552353"/>
              <a:gd name="connsiteX3" fmla="*/ 2184040 w 2252617"/>
              <a:gd name="connsiteY3" fmla="*/ 1552353 h 1552353"/>
              <a:gd name="connsiteX4" fmla="*/ 0 w 2252617"/>
              <a:gd name="connsiteY4" fmla="*/ 1552353 h 1552353"/>
              <a:gd name="connsiteX5" fmla="*/ 0 w 2252617"/>
              <a:gd name="connsiteY5" fmla="*/ 0 h 1552353"/>
              <a:gd name="connsiteX0" fmla="*/ 0 w 2295478"/>
              <a:gd name="connsiteY0" fmla="*/ 0 h 1552353"/>
              <a:gd name="connsiteX1" fmla="*/ 2295478 w 2295478"/>
              <a:gd name="connsiteY1" fmla="*/ 0 h 1552353"/>
              <a:gd name="connsiteX2" fmla="*/ 1724285 w 2295478"/>
              <a:gd name="connsiteY2" fmla="*/ 850640 h 1552353"/>
              <a:gd name="connsiteX3" fmla="*/ 2184040 w 2295478"/>
              <a:gd name="connsiteY3" fmla="*/ 1552353 h 1552353"/>
              <a:gd name="connsiteX4" fmla="*/ 0 w 2295478"/>
              <a:gd name="connsiteY4" fmla="*/ 1552353 h 1552353"/>
              <a:gd name="connsiteX5" fmla="*/ 0 w 2295478"/>
              <a:gd name="connsiteY5" fmla="*/ 0 h 1552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5478" h="1552353">
                <a:moveTo>
                  <a:pt x="0" y="0"/>
                </a:moveTo>
                <a:lnTo>
                  <a:pt x="2295478" y="0"/>
                </a:lnTo>
                <a:lnTo>
                  <a:pt x="1724285" y="850640"/>
                </a:lnTo>
                <a:lnTo>
                  <a:pt x="2184040" y="1552353"/>
                </a:lnTo>
                <a:lnTo>
                  <a:pt x="0" y="1552353"/>
                </a:lnTo>
                <a:lnTo>
                  <a:pt x="0" y="0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Retângulo 73">
            <a:extLst>
              <a:ext uri="{FF2B5EF4-FFF2-40B4-BE49-F238E27FC236}">
                <a16:creationId xmlns:a16="http://schemas.microsoft.com/office/drawing/2014/main" id="{B0AB8EAC-5446-44A4-BF7D-3D79DB793E83}"/>
              </a:ext>
            </a:extLst>
          </p:cNvPr>
          <p:cNvSpPr/>
          <p:nvPr/>
        </p:nvSpPr>
        <p:spPr>
          <a:xfrm>
            <a:off x="9879023" y="2291265"/>
            <a:ext cx="25489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 Bold" pitchFamily="50" charset="0"/>
                <a:ea typeface="+mn-ea"/>
                <a:cs typeface="Gotham Bold" pitchFamily="50" charset="0"/>
              </a:rPr>
              <a:t>DATA VIZ</a:t>
            </a:r>
          </a:p>
        </p:txBody>
      </p:sp>
      <p:sp>
        <p:nvSpPr>
          <p:cNvPr id="75" name="Retângulo 74">
            <a:extLst>
              <a:ext uri="{FF2B5EF4-FFF2-40B4-BE49-F238E27FC236}">
                <a16:creationId xmlns:a16="http://schemas.microsoft.com/office/drawing/2014/main" id="{DC5F0799-A32B-4761-A308-12ABBEE224C6}"/>
              </a:ext>
            </a:extLst>
          </p:cNvPr>
          <p:cNvSpPr/>
          <p:nvPr/>
        </p:nvSpPr>
        <p:spPr>
          <a:xfrm>
            <a:off x="10631212" y="3081460"/>
            <a:ext cx="13869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 Book" pitchFamily="50" charset="0"/>
                <a:ea typeface="+mn-ea"/>
                <a:cs typeface="Gotham Book" pitchFamily="50" charset="0"/>
              </a:rPr>
              <a:t>Dados catalogados</a:t>
            </a:r>
          </a:p>
        </p:txBody>
      </p:sp>
      <p:pic>
        <p:nvPicPr>
          <p:cNvPr id="77" name="Imagem 76">
            <a:extLst>
              <a:ext uri="{FF2B5EF4-FFF2-40B4-BE49-F238E27FC236}">
                <a16:creationId xmlns:a16="http://schemas.microsoft.com/office/drawing/2014/main" id="{9CBE1758-7BED-44B6-A5EC-F0434986E13A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27315" y="4103223"/>
            <a:ext cx="498723" cy="719587"/>
          </a:xfrm>
          <a:prstGeom prst="rect">
            <a:avLst/>
          </a:prstGeom>
        </p:spPr>
      </p:pic>
      <p:sp>
        <p:nvSpPr>
          <p:cNvPr id="73" name="Seta: Divisa 72">
            <a:extLst>
              <a:ext uri="{FF2B5EF4-FFF2-40B4-BE49-F238E27FC236}">
                <a16:creationId xmlns:a16="http://schemas.microsoft.com/office/drawing/2014/main" id="{44699F6C-1213-449B-B052-890B0F257CFE}"/>
              </a:ext>
            </a:extLst>
          </p:cNvPr>
          <p:cNvSpPr/>
          <p:nvPr/>
        </p:nvSpPr>
        <p:spPr>
          <a:xfrm>
            <a:off x="9782448" y="1437047"/>
            <a:ext cx="889404" cy="4430263"/>
          </a:xfrm>
          <a:prstGeom prst="chevron">
            <a:avLst>
              <a:gd name="adj" fmla="val 7427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oogle Shape;62;p13">
            <a:extLst>
              <a:ext uri="{FF2B5EF4-FFF2-40B4-BE49-F238E27FC236}">
                <a16:creationId xmlns:a16="http://schemas.microsoft.com/office/drawing/2014/main" id="{7C7C1D6A-ED66-4886-B2D9-B1C6841EE1FA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9259381" y="4383155"/>
            <a:ext cx="2932619" cy="24748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2837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92C481-E8BA-4620-81EC-90DAA0AA6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27" y="1337351"/>
            <a:ext cx="10696863" cy="3872824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5FC3239-B4FA-418A-AE82-7C4E53496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420" y="3652178"/>
            <a:ext cx="1484905" cy="733425"/>
          </a:xfrm>
          <a:prstGeom prst="rect">
            <a:avLst/>
          </a:prstGeom>
        </p:spPr>
      </p:pic>
      <p:pic>
        <p:nvPicPr>
          <p:cNvPr id="50" name="Imagem 49">
            <a:extLst>
              <a:ext uri="{FF2B5EF4-FFF2-40B4-BE49-F238E27FC236}">
                <a16:creationId xmlns:a16="http://schemas.microsoft.com/office/drawing/2014/main" id="{902D6CCC-0B6F-4233-A6E8-731F79B7C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4070" y="2250941"/>
            <a:ext cx="1711075" cy="510552"/>
          </a:xfrm>
          <a:prstGeom prst="rect">
            <a:avLst/>
          </a:prstGeom>
        </p:spPr>
      </p:pic>
      <p:pic>
        <p:nvPicPr>
          <p:cNvPr id="51" name="Imagem 50">
            <a:extLst>
              <a:ext uri="{FF2B5EF4-FFF2-40B4-BE49-F238E27FC236}">
                <a16:creationId xmlns:a16="http://schemas.microsoft.com/office/drawing/2014/main" id="{822E6EB1-8F99-40D8-AD94-9E0662E09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797" y="3730558"/>
            <a:ext cx="1623393" cy="484389"/>
          </a:xfrm>
          <a:prstGeom prst="rect">
            <a:avLst/>
          </a:prstGeom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927993A5-E98D-4310-B5D8-D8FE20403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9261" y="2187297"/>
            <a:ext cx="1623393" cy="484389"/>
          </a:xfrm>
          <a:prstGeom prst="rect">
            <a:avLst/>
          </a:prstGeom>
        </p:spPr>
      </p:pic>
      <p:pic>
        <p:nvPicPr>
          <p:cNvPr id="67" name="Imagem 66">
            <a:extLst>
              <a:ext uri="{FF2B5EF4-FFF2-40B4-BE49-F238E27FC236}">
                <a16:creationId xmlns:a16="http://schemas.microsoft.com/office/drawing/2014/main" id="{1A1B8763-C031-4569-A7E8-0F273769C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216" y="2351247"/>
            <a:ext cx="1453480" cy="433690"/>
          </a:xfrm>
          <a:prstGeom prst="rect">
            <a:avLst/>
          </a:prstGeom>
        </p:spPr>
      </p:pic>
      <p:pic>
        <p:nvPicPr>
          <p:cNvPr id="68" name="Imagem 67">
            <a:extLst>
              <a:ext uri="{FF2B5EF4-FFF2-40B4-BE49-F238E27FC236}">
                <a16:creationId xmlns:a16="http://schemas.microsoft.com/office/drawing/2014/main" id="{EF7534E1-E94F-44AF-88E9-5A57CB787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6696" y="2093442"/>
            <a:ext cx="1623393" cy="742193"/>
          </a:xfrm>
          <a:prstGeom prst="rect">
            <a:avLst/>
          </a:prstGeom>
        </p:spPr>
      </p:pic>
      <p:pic>
        <p:nvPicPr>
          <p:cNvPr id="69" name="Imagem 68">
            <a:extLst>
              <a:ext uri="{FF2B5EF4-FFF2-40B4-BE49-F238E27FC236}">
                <a16:creationId xmlns:a16="http://schemas.microsoft.com/office/drawing/2014/main" id="{4A26C568-AD42-4391-825F-D4E00863B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121" y="3760480"/>
            <a:ext cx="1834972" cy="448838"/>
          </a:xfrm>
          <a:prstGeom prst="rect">
            <a:avLst/>
          </a:prstGeom>
        </p:spPr>
      </p:pic>
      <p:pic>
        <p:nvPicPr>
          <p:cNvPr id="70" name="Imagem 69">
            <a:extLst>
              <a:ext uri="{FF2B5EF4-FFF2-40B4-BE49-F238E27FC236}">
                <a16:creationId xmlns:a16="http://schemas.microsoft.com/office/drawing/2014/main" id="{2B912CB2-E596-4840-8644-6CBBC3924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649" y="3730558"/>
            <a:ext cx="1834972" cy="44883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7F95E81-C50F-459F-827F-706312BA7A1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t="41980" r="8724" b="41925"/>
          <a:stretch/>
        </p:blipFill>
        <p:spPr>
          <a:xfrm>
            <a:off x="6544277" y="6347292"/>
            <a:ext cx="1705361" cy="327947"/>
          </a:xfrm>
          <a:prstGeom prst="rect">
            <a:avLst/>
          </a:prstGeom>
        </p:spPr>
      </p:pic>
      <p:sp>
        <p:nvSpPr>
          <p:cNvPr id="8" name="Espaço Reservado para Número de Slide 4">
            <a:extLst>
              <a:ext uri="{FF2B5EF4-FFF2-40B4-BE49-F238E27FC236}">
                <a16:creationId xmlns:a16="http://schemas.microsoft.com/office/drawing/2014/main" id="{6FB72034-355D-49BB-87C1-9B091858F2F2}"/>
              </a:ext>
            </a:extLst>
          </p:cNvPr>
          <p:cNvSpPr txBox="1">
            <a:spLocks/>
          </p:cNvSpPr>
          <p:nvPr/>
        </p:nvSpPr>
        <p:spPr>
          <a:xfrm>
            <a:off x="11529390" y="379620"/>
            <a:ext cx="274983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FB8526-A7DF-44F1-A0A0-E2C9088E152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6ADBD9"/>
                </a:solidFill>
                <a:effectLst/>
                <a:uLnTx/>
                <a:uFillTx/>
                <a:latin typeface="Open Sans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9" name="Pentágono 8">
            <a:extLst>
              <a:ext uri="{FF2B5EF4-FFF2-40B4-BE49-F238E27FC236}">
                <a16:creationId xmlns:a16="http://schemas.microsoft.com/office/drawing/2014/main" id="{644FBE2D-7350-4B46-8585-E858DF5CAE69}"/>
              </a:ext>
            </a:extLst>
          </p:cNvPr>
          <p:cNvSpPr/>
          <p:nvPr/>
        </p:nvSpPr>
        <p:spPr>
          <a:xfrm>
            <a:off x="11529391" y="419377"/>
            <a:ext cx="274983" cy="251791"/>
          </a:xfrm>
          <a:prstGeom prst="pentagon">
            <a:avLst/>
          </a:prstGeom>
          <a:noFill/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11" name="Espaço Reservado para Data 3">
            <a:extLst>
              <a:ext uri="{FF2B5EF4-FFF2-40B4-BE49-F238E27FC236}">
                <a16:creationId xmlns:a16="http://schemas.microsoft.com/office/drawing/2014/main" id="{A0A8F5ED-4B97-42B0-8108-1DB2ADE1D6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3357880" cy="336050"/>
          </a:xfrm>
        </p:spPr>
        <p:txBody>
          <a:bodyPr/>
          <a:lstStyle/>
          <a:p>
            <a:r>
              <a:rPr lang="pt-BR" dirty="0"/>
              <a:t>@2020 LABDATA FIA. Copyright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rights</a:t>
            </a:r>
            <a:r>
              <a:rPr lang="pt-BR" dirty="0"/>
              <a:t> </a:t>
            </a:r>
            <a:r>
              <a:rPr lang="pt-BR" dirty="0" err="1"/>
              <a:t>reserved</a:t>
            </a:r>
            <a:r>
              <a:rPr lang="pt-BR" dirty="0"/>
              <a:t>.</a:t>
            </a:r>
          </a:p>
        </p:txBody>
      </p:sp>
      <p:sp>
        <p:nvSpPr>
          <p:cNvPr id="46" name="Title Placeholder 1">
            <a:extLst>
              <a:ext uri="{FF2B5EF4-FFF2-40B4-BE49-F238E27FC236}">
                <a16:creationId xmlns:a16="http://schemas.microsoft.com/office/drawing/2014/main" id="{EE88F49F-3B63-47DF-95FD-716B9B0A9881}"/>
              </a:ext>
            </a:extLst>
          </p:cNvPr>
          <p:cNvSpPr txBox="1">
            <a:spLocks/>
          </p:cNvSpPr>
          <p:nvPr/>
        </p:nvSpPr>
        <p:spPr>
          <a:xfrm>
            <a:off x="360000" y="165600"/>
            <a:ext cx="6624736" cy="71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spcBef>
                <a:spcPct val="0"/>
              </a:spcBef>
              <a:buNone/>
              <a:defRPr sz="2400">
                <a:solidFill>
                  <a:srgbClr val="02BAB1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Storyline</a:t>
            </a:r>
          </a:p>
        </p:txBody>
      </p:sp>
      <p:pic>
        <p:nvPicPr>
          <p:cNvPr id="5" name="Google Shape;62;p13">
            <a:extLst>
              <a:ext uri="{FF2B5EF4-FFF2-40B4-BE49-F238E27FC236}">
                <a16:creationId xmlns:a16="http://schemas.microsoft.com/office/drawing/2014/main" id="{7C7C1D6A-ED66-4886-B2D9-B1C6841EE1F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9259381" y="4383155"/>
            <a:ext cx="2932619" cy="247484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Retângulo 37">
            <a:extLst>
              <a:ext uri="{FF2B5EF4-FFF2-40B4-BE49-F238E27FC236}">
                <a16:creationId xmlns:a16="http://schemas.microsoft.com/office/drawing/2014/main" id="{D7F0E001-BD35-4D19-B145-F2DDBF605122}"/>
              </a:ext>
            </a:extLst>
          </p:cNvPr>
          <p:cNvSpPr/>
          <p:nvPr/>
        </p:nvSpPr>
        <p:spPr>
          <a:xfrm>
            <a:off x="2730682" y="2378798"/>
            <a:ext cx="2100392" cy="336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8EE73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Envio do </a:t>
            </a:r>
            <a:r>
              <a:rPr kumimoji="0" lang="pt-BR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8EE73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Push</a:t>
            </a:r>
            <a:endParaRPr kumimoji="0" lang="pt-BR" sz="1600" b="1" i="0" u="none" strike="noStrike" kern="1200" cap="none" spc="0" normalizeH="0" baseline="0" noProof="0" dirty="0">
              <a:ln>
                <a:noFill/>
              </a:ln>
              <a:solidFill>
                <a:srgbClr val="8EE733"/>
              </a:solidFill>
              <a:effectLst/>
              <a:uLnTx/>
              <a:uFillTx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711B521D-B414-4093-B940-628F167ADE29}"/>
              </a:ext>
            </a:extLst>
          </p:cNvPr>
          <p:cNvSpPr/>
          <p:nvPr/>
        </p:nvSpPr>
        <p:spPr>
          <a:xfrm>
            <a:off x="3914734" y="3672621"/>
            <a:ext cx="2100392" cy="336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4BD9B6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Interação no app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685A6A9F-9CE9-45B6-B6EE-F325C1A408C1}"/>
              </a:ext>
            </a:extLst>
          </p:cNvPr>
          <p:cNvSpPr/>
          <p:nvPr/>
        </p:nvSpPr>
        <p:spPr>
          <a:xfrm>
            <a:off x="6318777" y="3648920"/>
            <a:ext cx="242156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b="1" dirty="0">
                <a:solidFill>
                  <a:srgbClr val="299FAC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Confirmação do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b="1" dirty="0">
                <a:solidFill>
                  <a:srgbClr val="299FAC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pedido</a:t>
            </a:r>
            <a:endParaRPr kumimoji="0" lang="pt-BR" sz="1600" b="1" i="0" u="none" strike="noStrike" kern="1200" cap="none" spc="0" normalizeH="0" baseline="0" noProof="0" dirty="0">
              <a:ln>
                <a:noFill/>
              </a:ln>
              <a:solidFill>
                <a:srgbClr val="299FAC"/>
              </a:solidFill>
              <a:effectLst/>
              <a:uLnTx/>
              <a:uFillTx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D8A02CBE-BB00-4C7F-A576-03F773BAF2C6}"/>
              </a:ext>
            </a:extLst>
          </p:cNvPr>
          <p:cNvSpPr/>
          <p:nvPr/>
        </p:nvSpPr>
        <p:spPr>
          <a:xfrm>
            <a:off x="7628142" y="2297718"/>
            <a:ext cx="24135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2A7AAB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Segmentação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2A7AAB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do cliente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B0E3873F-8119-4223-8DB9-67D39B68804F}"/>
              </a:ext>
            </a:extLst>
          </p:cNvPr>
          <p:cNvSpPr/>
          <p:nvPr/>
        </p:nvSpPr>
        <p:spPr>
          <a:xfrm>
            <a:off x="1206675" y="3653981"/>
            <a:ext cx="2100392" cy="336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E2E636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Canal de entrada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F61809BE-30D5-43F5-8032-E15A6E0D3D33}"/>
              </a:ext>
            </a:extLst>
          </p:cNvPr>
          <p:cNvSpPr/>
          <p:nvPr/>
        </p:nvSpPr>
        <p:spPr>
          <a:xfrm>
            <a:off x="4939359" y="2289125"/>
            <a:ext cx="242156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b="1" dirty="0">
                <a:solidFill>
                  <a:srgbClr val="80C7D9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Solicitação do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b="1" dirty="0">
                <a:solidFill>
                  <a:srgbClr val="80C7D9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pedido</a:t>
            </a:r>
            <a:endParaRPr kumimoji="0" lang="pt-BR" sz="1600" b="1" i="0" u="none" strike="noStrike" kern="1200" cap="none" spc="0" normalizeH="0" baseline="0" noProof="0" dirty="0">
              <a:ln>
                <a:noFill/>
              </a:ln>
              <a:solidFill>
                <a:srgbClr val="80C7D9"/>
              </a:solidFill>
              <a:effectLst/>
              <a:uLnTx/>
              <a:uFillTx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3CDBBAEC-D838-4C5C-8777-707AFF233496}"/>
              </a:ext>
            </a:extLst>
          </p:cNvPr>
          <p:cNvSpPr/>
          <p:nvPr/>
        </p:nvSpPr>
        <p:spPr>
          <a:xfrm>
            <a:off x="9087835" y="3659759"/>
            <a:ext cx="241354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6F2AAB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Acompanhamento</a:t>
            </a:r>
          </a:p>
        </p:txBody>
      </p:sp>
    </p:spTree>
    <p:extLst>
      <p:ext uri="{BB962C8B-B14F-4D97-AF65-F5344CB8AC3E}">
        <p14:creationId xmlns:p14="http://schemas.microsoft.com/office/powerpoint/2010/main" val="4202459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37F95E81-C50F-459F-827F-706312BA7A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t="41980" r="8724" b="41925"/>
          <a:stretch/>
        </p:blipFill>
        <p:spPr>
          <a:xfrm>
            <a:off x="6544277" y="6347292"/>
            <a:ext cx="1705361" cy="327947"/>
          </a:xfrm>
          <a:prstGeom prst="rect">
            <a:avLst/>
          </a:prstGeom>
        </p:spPr>
      </p:pic>
      <p:sp>
        <p:nvSpPr>
          <p:cNvPr id="8" name="Espaço Reservado para Número de Slide 4">
            <a:extLst>
              <a:ext uri="{FF2B5EF4-FFF2-40B4-BE49-F238E27FC236}">
                <a16:creationId xmlns:a16="http://schemas.microsoft.com/office/drawing/2014/main" id="{6FB72034-355D-49BB-87C1-9B091858F2F2}"/>
              </a:ext>
            </a:extLst>
          </p:cNvPr>
          <p:cNvSpPr txBox="1">
            <a:spLocks/>
          </p:cNvSpPr>
          <p:nvPr/>
        </p:nvSpPr>
        <p:spPr>
          <a:xfrm>
            <a:off x="11529390" y="379620"/>
            <a:ext cx="274983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FB8526-A7DF-44F1-A0A0-E2C9088E152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6ADBD9"/>
                </a:solidFill>
                <a:effectLst/>
                <a:uLnTx/>
                <a:uFillTx/>
                <a:latin typeface="Open Sans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9" name="Pentágono 8">
            <a:extLst>
              <a:ext uri="{FF2B5EF4-FFF2-40B4-BE49-F238E27FC236}">
                <a16:creationId xmlns:a16="http://schemas.microsoft.com/office/drawing/2014/main" id="{644FBE2D-7350-4B46-8585-E858DF5CAE69}"/>
              </a:ext>
            </a:extLst>
          </p:cNvPr>
          <p:cNvSpPr/>
          <p:nvPr/>
        </p:nvSpPr>
        <p:spPr>
          <a:xfrm>
            <a:off x="11529391" y="419377"/>
            <a:ext cx="274983" cy="251791"/>
          </a:xfrm>
          <a:prstGeom prst="pentagon">
            <a:avLst/>
          </a:prstGeom>
          <a:noFill/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11" name="Espaço Reservado para Data 3">
            <a:extLst>
              <a:ext uri="{FF2B5EF4-FFF2-40B4-BE49-F238E27FC236}">
                <a16:creationId xmlns:a16="http://schemas.microsoft.com/office/drawing/2014/main" id="{F02E586B-0AA8-485A-9792-5C9F8059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3357880" cy="336050"/>
          </a:xfrm>
        </p:spPr>
        <p:txBody>
          <a:bodyPr/>
          <a:lstStyle/>
          <a:p>
            <a:r>
              <a:rPr lang="pt-BR" dirty="0"/>
              <a:t>@2020 LABDATA FIA. Copyright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rights</a:t>
            </a:r>
            <a:r>
              <a:rPr lang="pt-BR" dirty="0"/>
              <a:t> </a:t>
            </a:r>
            <a:r>
              <a:rPr lang="pt-BR" dirty="0" err="1"/>
              <a:t>reserved</a:t>
            </a:r>
            <a:r>
              <a:rPr lang="pt-BR" dirty="0"/>
              <a:t>.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ADCF4FB7-F7CF-4075-BB1C-3E3D3C626698}"/>
              </a:ext>
            </a:extLst>
          </p:cNvPr>
          <p:cNvSpPr txBox="1">
            <a:spLocks/>
          </p:cNvSpPr>
          <p:nvPr/>
        </p:nvSpPr>
        <p:spPr>
          <a:xfrm>
            <a:off x="705440" y="165600"/>
            <a:ext cx="6624736" cy="71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spcBef>
                <a:spcPct val="0"/>
              </a:spcBef>
              <a:buNone/>
              <a:defRPr sz="2400">
                <a:solidFill>
                  <a:srgbClr val="02BAB1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Análise</a:t>
            </a:r>
            <a:r>
              <a:rPr lang="en-US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en-US" b="1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exploratória</a:t>
            </a:r>
            <a:endParaRPr lang="en-US" b="1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39AC475-437F-4BB8-B285-E869785C8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560" y="1579677"/>
            <a:ext cx="11090320" cy="4174264"/>
          </a:xfrm>
          <a:prstGeom prst="rect">
            <a:avLst/>
          </a:prstGeom>
        </p:spPr>
      </p:pic>
      <p:pic>
        <p:nvPicPr>
          <p:cNvPr id="5" name="Google Shape;62;p13">
            <a:extLst>
              <a:ext uri="{FF2B5EF4-FFF2-40B4-BE49-F238E27FC236}">
                <a16:creationId xmlns:a16="http://schemas.microsoft.com/office/drawing/2014/main" id="{7C7C1D6A-ED66-4886-B2D9-B1C6841EE1F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9259381" y="4383155"/>
            <a:ext cx="2932619" cy="247484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82BF1E15-7CB5-4E19-AB2E-AEEC1C8F017D}"/>
              </a:ext>
            </a:extLst>
          </p:cNvPr>
          <p:cNvSpPr/>
          <p:nvPr/>
        </p:nvSpPr>
        <p:spPr>
          <a:xfrm>
            <a:off x="705439" y="671168"/>
            <a:ext cx="1130488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Principais análises - </a:t>
            </a:r>
            <a:r>
              <a:rPr kumimoji="0" lang="pt-BR" sz="1600" i="0" u="none" strike="noStrike" kern="120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orders</a:t>
            </a:r>
            <a:endParaRPr kumimoji="0" lang="pt-BR" sz="1600" i="0" u="none" strike="noStrike" kern="120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BBC9A55-1B7D-48E6-B8D6-E6D7FFFB3D9D}"/>
              </a:ext>
            </a:extLst>
          </p:cNvPr>
          <p:cNvSpPr/>
          <p:nvPr/>
        </p:nvSpPr>
        <p:spPr>
          <a:xfrm>
            <a:off x="499491" y="1271900"/>
            <a:ext cx="113048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sng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Frequência acumulada por tipo de comida</a:t>
            </a:r>
          </a:p>
        </p:txBody>
      </p:sp>
      <p:pic>
        <p:nvPicPr>
          <p:cNvPr id="15" name="Picture 12" descr="search data base Icon 2436717">
            <a:extLst>
              <a:ext uri="{FF2B5EF4-FFF2-40B4-BE49-F238E27FC236}">
                <a16:creationId xmlns:a16="http://schemas.microsoft.com/office/drawing/2014/main" id="{037396F3-8EEC-4FE0-9B51-7BFAE4CAD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" y="30949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3016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37F95E81-C50F-459F-827F-706312BA7A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t="41980" r="8724" b="41925"/>
          <a:stretch/>
        </p:blipFill>
        <p:spPr>
          <a:xfrm>
            <a:off x="6544277" y="6347292"/>
            <a:ext cx="1705361" cy="327947"/>
          </a:xfrm>
          <a:prstGeom prst="rect">
            <a:avLst/>
          </a:prstGeom>
        </p:spPr>
      </p:pic>
      <p:sp>
        <p:nvSpPr>
          <p:cNvPr id="8" name="Espaço Reservado para Número de Slide 4">
            <a:extLst>
              <a:ext uri="{FF2B5EF4-FFF2-40B4-BE49-F238E27FC236}">
                <a16:creationId xmlns:a16="http://schemas.microsoft.com/office/drawing/2014/main" id="{6FB72034-355D-49BB-87C1-9B091858F2F2}"/>
              </a:ext>
            </a:extLst>
          </p:cNvPr>
          <p:cNvSpPr txBox="1">
            <a:spLocks/>
          </p:cNvSpPr>
          <p:nvPr/>
        </p:nvSpPr>
        <p:spPr>
          <a:xfrm>
            <a:off x="11529390" y="379620"/>
            <a:ext cx="274983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FB8526-A7DF-44F1-A0A0-E2C9088E152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6ADBD9"/>
                </a:solidFill>
                <a:effectLst/>
                <a:uLnTx/>
                <a:uFillTx/>
                <a:latin typeface="Open Sans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9" name="Pentágono 8">
            <a:extLst>
              <a:ext uri="{FF2B5EF4-FFF2-40B4-BE49-F238E27FC236}">
                <a16:creationId xmlns:a16="http://schemas.microsoft.com/office/drawing/2014/main" id="{644FBE2D-7350-4B46-8585-E858DF5CAE69}"/>
              </a:ext>
            </a:extLst>
          </p:cNvPr>
          <p:cNvSpPr/>
          <p:nvPr/>
        </p:nvSpPr>
        <p:spPr>
          <a:xfrm>
            <a:off x="11529391" y="419377"/>
            <a:ext cx="274983" cy="251791"/>
          </a:xfrm>
          <a:prstGeom prst="pentagon">
            <a:avLst/>
          </a:prstGeom>
          <a:noFill/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11" name="Espaço Reservado para Data 3">
            <a:extLst>
              <a:ext uri="{FF2B5EF4-FFF2-40B4-BE49-F238E27FC236}">
                <a16:creationId xmlns:a16="http://schemas.microsoft.com/office/drawing/2014/main" id="{F02E586B-0AA8-485A-9792-5C9F8059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3357880" cy="336050"/>
          </a:xfrm>
        </p:spPr>
        <p:txBody>
          <a:bodyPr/>
          <a:lstStyle/>
          <a:p>
            <a:r>
              <a:rPr lang="pt-BR" dirty="0"/>
              <a:t>@2020 LABDATA FIA. Copyright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rights</a:t>
            </a:r>
            <a:r>
              <a:rPr lang="pt-BR" dirty="0"/>
              <a:t> </a:t>
            </a:r>
            <a:r>
              <a:rPr lang="pt-BR" dirty="0" err="1"/>
              <a:t>reserved</a:t>
            </a:r>
            <a:r>
              <a:rPr lang="pt-BR" dirty="0"/>
              <a:t>.</a:t>
            </a:r>
          </a:p>
        </p:txBody>
      </p:sp>
      <p:pic>
        <p:nvPicPr>
          <p:cNvPr id="5" name="Google Shape;62;p13">
            <a:extLst>
              <a:ext uri="{FF2B5EF4-FFF2-40B4-BE49-F238E27FC236}">
                <a16:creationId xmlns:a16="http://schemas.microsoft.com/office/drawing/2014/main" id="{7C7C1D6A-ED66-4886-B2D9-B1C6841EE1F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9259381" y="4383155"/>
            <a:ext cx="2932619" cy="247484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A7279187-EB77-442F-9007-2C636F7B0697}"/>
              </a:ext>
            </a:extLst>
          </p:cNvPr>
          <p:cNvSpPr/>
          <p:nvPr/>
        </p:nvSpPr>
        <p:spPr>
          <a:xfrm>
            <a:off x="359999" y="1596563"/>
            <a:ext cx="113036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u="sng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Pushs</a:t>
            </a:r>
            <a:r>
              <a:rPr lang="pt-BR" sz="1400" b="1" u="sng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enviados</a:t>
            </a:r>
            <a:endParaRPr kumimoji="0" lang="pt-BR" sz="1400" b="1" i="0" u="sng" strike="noStrike" kern="120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A92C8DD-EE14-4838-A4FC-FF19AB7540A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0427"/>
          <a:stretch/>
        </p:blipFill>
        <p:spPr>
          <a:xfrm>
            <a:off x="5872302" y="2035227"/>
            <a:ext cx="5932070" cy="281157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D2E029F-76EA-4FAD-A4F2-B9C829DF62E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9253"/>
          <a:stretch/>
        </p:blipFill>
        <p:spPr>
          <a:xfrm>
            <a:off x="164371" y="2043510"/>
            <a:ext cx="5517058" cy="2803294"/>
          </a:xfrm>
          <a:prstGeom prst="rect">
            <a:avLst/>
          </a:prstGeom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7B73166F-0AA4-44E3-98AD-FFE1F1E9310F}"/>
              </a:ext>
            </a:extLst>
          </p:cNvPr>
          <p:cNvSpPr/>
          <p:nvPr/>
        </p:nvSpPr>
        <p:spPr>
          <a:xfrm>
            <a:off x="6025658" y="1653873"/>
            <a:ext cx="113036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u="sng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Pushs</a:t>
            </a:r>
            <a:r>
              <a:rPr lang="pt-BR" sz="1400" b="1" u="sng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clicados</a:t>
            </a:r>
            <a:endParaRPr kumimoji="0" lang="pt-BR" sz="1400" b="1" i="0" u="sng" strike="noStrike" kern="120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CD2E3A93-15D3-4413-AC2D-C861431EA11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8325" t="3121" r="2970" b="53011"/>
          <a:stretch/>
        </p:blipFill>
        <p:spPr>
          <a:xfrm>
            <a:off x="11451043" y="2226656"/>
            <a:ext cx="576586" cy="1233378"/>
          </a:xfrm>
          <a:prstGeom prst="rect">
            <a:avLst/>
          </a:prstGeom>
        </p:spPr>
      </p:pic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96E9E75C-FCA5-41CA-AF09-A3632504A37E}"/>
              </a:ext>
            </a:extLst>
          </p:cNvPr>
          <p:cNvSpPr txBox="1">
            <a:spLocks/>
          </p:cNvSpPr>
          <p:nvPr/>
        </p:nvSpPr>
        <p:spPr>
          <a:xfrm>
            <a:off x="707332" y="165600"/>
            <a:ext cx="6624736" cy="71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spcBef>
                <a:spcPct val="0"/>
              </a:spcBef>
              <a:buNone/>
              <a:defRPr sz="2400">
                <a:solidFill>
                  <a:srgbClr val="02BAB1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Análise</a:t>
            </a:r>
            <a:r>
              <a:rPr lang="en-US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en-US" b="1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exploratória</a:t>
            </a:r>
            <a:endParaRPr lang="en-US" b="1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0B4ABC1-BECE-40E3-B11B-96F6F6D25BE2}"/>
              </a:ext>
            </a:extLst>
          </p:cNvPr>
          <p:cNvSpPr/>
          <p:nvPr/>
        </p:nvSpPr>
        <p:spPr>
          <a:xfrm>
            <a:off x="707331" y="671168"/>
            <a:ext cx="1130488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Principais análises – </a:t>
            </a:r>
            <a:r>
              <a:rPr kumimoji="0" lang="pt-BR" sz="1600" i="0" u="none" strike="noStrike" kern="120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mkt</a:t>
            </a:r>
            <a:r>
              <a:rPr kumimoji="0" lang="pt-BR" sz="160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kumimoji="0" lang="pt-BR" sz="1600" i="0" u="none" strike="noStrike" kern="120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push</a:t>
            </a:r>
            <a:endParaRPr kumimoji="0" lang="pt-BR" sz="1600" i="0" u="none" strike="noStrike" kern="120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21" name="Picture 12" descr="search data base Icon 2436717">
            <a:extLst>
              <a:ext uri="{FF2B5EF4-FFF2-40B4-BE49-F238E27FC236}">
                <a16:creationId xmlns:a16="http://schemas.microsoft.com/office/drawing/2014/main" id="{CD87A296-1197-48A9-B7AE-D814A9D00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2" y="30949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4103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2;p13">
            <a:extLst>
              <a:ext uri="{FF2B5EF4-FFF2-40B4-BE49-F238E27FC236}">
                <a16:creationId xmlns:a16="http://schemas.microsoft.com/office/drawing/2014/main" id="{7C7C1D6A-ED66-4886-B2D9-B1C6841EE1F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259381" y="4383155"/>
            <a:ext cx="2932619" cy="2474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7F95E81-C50F-459F-827F-706312BA7A1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t="41980" r="8724" b="41925"/>
          <a:stretch/>
        </p:blipFill>
        <p:spPr>
          <a:xfrm>
            <a:off x="6544277" y="6347292"/>
            <a:ext cx="1705361" cy="327947"/>
          </a:xfrm>
          <a:prstGeom prst="rect">
            <a:avLst/>
          </a:prstGeom>
        </p:spPr>
      </p:pic>
      <p:sp>
        <p:nvSpPr>
          <p:cNvPr id="8" name="Espaço Reservado para Número de Slide 4">
            <a:extLst>
              <a:ext uri="{FF2B5EF4-FFF2-40B4-BE49-F238E27FC236}">
                <a16:creationId xmlns:a16="http://schemas.microsoft.com/office/drawing/2014/main" id="{6FB72034-355D-49BB-87C1-9B091858F2F2}"/>
              </a:ext>
            </a:extLst>
          </p:cNvPr>
          <p:cNvSpPr txBox="1">
            <a:spLocks/>
          </p:cNvSpPr>
          <p:nvPr/>
        </p:nvSpPr>
        <p:spPr>
          <a:xfrm>
            <a:off x="11448110" y="355600"/>
            <a:ext cx="398450" cy="40946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FB8526-A7DF-44F1-A0A0-E2C9088E152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6ADBD9"/>
                </a:solidFill>
                <a:effectLst/>
                <a:uLnTx/>
                <a:uFillTx/>
                <a:latin typeface="Open Sans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9" name="Pentágono 8">
            <a:extLst>
              <a:ext uri="{FF2B5EF4-FFF2-40B4-BE49-F238E27FC236}">
                <a16:creationId xmlns:a16="http://schemas.microsoft.com/office/drawing/2014/main" id="{644FBE2D-7350-4B46-8585-E858DF5CAE69}"/>
              </a:ext>
            </a:extLst>
          </p:cNvPr>
          <p:cNvSpPr/>
          <p:nvPr/>
        </p:nvSpPr>
        <p:spPr>
          <a:xfrm>
            <a:off x="11529391" y="419377"/>
            <a:ext cx="274983" cy="251791"/>
          </a:xfrm>
          <a:prstGeom prst="pentagon">
            <a:avLst/>
          </a:prstGeom>
          <a:noFill/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F2770125-337A-4266-8924-C98DD38709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3357880" cy="336050"/>
          </a:xfrm>
        </p:spPr>
        <p:txBody>
          <a:bodyPr/>
          <a:lstStyle/>
          <a:p>
            <a:r>
              <a:rPr lang="pt-BR" dirty="0"/>
              <a:t>@2020 LABDATA FIA. Copyright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rights</a:t>
            </a:r>
            <a:r>
              <a:rPr lang="pt-BR" dirty="0"/>
              <a:t> </a:t>
            </a:r>
            <a:r>
              <a:rPr lang="pt-BR" dirty="0" err="1"/>
              <a:t>reserved</a:t>
            </a:r>
            <a:r>
              <a:rPr lang="pt-BR" dirty="0"/>
              <a:t>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2726704-0D82-4EEE-A2F6-F46FC458CC4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8106"/>
          <a:stretch/>
        </p:blipFill>
        <p:spPr>
          <a:xfrm>
            <a:off x="362615" y="2245361"/>
            <a:ext cx="5733385" cy="2489932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41851BC0-517F-43B1-9148-5405E54CF70C}"/>
              </a:ext>
            </a:extLst>
          </p:cNvPr>
          <p:cNvSpPr/>
          <p:nvPr/>
        </p:nvSpPr>
        <p:spPr>
          <a:xfrm>
            <a:off x="343655" y="1745034"/>
            <a:ext cx="17899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u="sng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Eventos</a:t>
            </a:r>
            <a:endParaRPr kumimoji="0" lang="pt-BR" sz="1400" b="1" i="0" u="sng" strike="noStrike" kern="120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804BFEA-17E6-4CB7-90BF-217799801962}"/>
              </a:ext>
            </a:extLst>
          </p:cNvPr>
          <p:cNvSpPr txBox="1">
            <a:spLocks/>
          </p:cNvSpPr>
          <p:nvPr/>
        </p:nvSpPr>
        <p:spPr>
          <a:xfrm>
            <a:off x="705440" y="165600"/>
            <a:ext cx="6624736" cy="71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spcBef>
                <a:spcPct val="0"/>
              </a:spcBef>
              <a:buNone/>
              <a:defRPr sz="2400">
                <a:solidFill>
                  <a:srgbClr val="02BAB1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Análise</a:t>
            </a:r>
            <a:r>
              <a:rPr lang="en-US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en-US" b="1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exploratória</a:t>
            </a:r>
            <a:endParaRPr lang="en-US" b="1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A00A438-0887-4764-A1BA-C45099216EA6}"/>
              </a:ext>
            </a:extLst>
          </p:cNvPr>
          <p:cNvSpPr/>
          <p:nvPr/>
        </p:nvSpPr>
        <p:spPr>
          <a:xfrm>
            <a:off x="705439" y="671168"/>
            <a:ext cx="1130488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Principais análises – </a:t>
            </a:r>
            <a:r>
              <a:rPr kumimoji="0" lang="pt-BR" sz="1600" i="0" u="none" strike="noStrike" kern="120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mkt</a:t>
            </a:r>
            <a:r>
              <a:rPr kumimoji="0" lang="pt-BR" sz="160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kumimoji="0" lang="pt-BR" sz="1600" i="0" u="none" strike="noStrike" kern="120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push</a:t>
            </a:r>
            <a:endParaRPr kumimoji="0" lang="pt-BR" sz="1600" i="0" u="none" strike="noStrike" kern="120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16" name="Picture 12" descr="search data base Icon 2436717">
            <a:extLst>
              <a:ext uri="{FF2B5EF4-FFF2-40B4-BE49-F238E27FC236}">
                <a16:creationId xmlns:a16="http://schemas.microsoft.com/office/drawing/2014/main" id="{EF018DAD-AB3B-40AE-B24D-05E6FC86F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" y="30949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2C533494-F405-4B8A-92E3-DB373EB905A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9760"/>
          <a:stretch/>
        </p:blipFill>
        <p:spPr>
          <a:xfrm>
            <a:off x="6357879" y="2037571"/>
            <a:ext cx="5518399" cy="2740585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DFEC84BC-88FF-48FC-82BB-986F047C617C}"/>
              </a:ext>
            </a:extLst>
          </p:cNvPr>
          <p:cNvSpPr/>
          <p:nvPr/>
        </p:nvSpPr>
        <p:spPr>
          <a:xfrm>
            <a:off x="6544277" y="1768705"/>
            <a:ext cx="178994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u="sng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Canal </a:t>
            </a:r>
            <a:endParaRPr kumimoji="0" lang="pt-BR" sz="1400" b="1" i="0" u="sng" strike="noStrike" kern="120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1A373152-3C51-487E-9C79-381F3251726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2328" r="7078" b="74701"/>
          <a:stretch/>
        </p:blipFill>
        <p:spPr>
          <a:xfrm>
            <a:off x="5141340" y="2381479"/>
            <a:ext cx="741681" cy="629919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A1C0737E-BD47-4BFF-B356-70087361E3D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9973" r="2317" b="51638"/>
          <a:stretch/>
        </p:blipFill>
        <p:spPr>
          <a:xfrm>
            <a:off x="10792320" y="2151324"/>
            <a:ext cx="1218000" cy="1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103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37F95E81-C50F-459F-827F-706312BA7A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t="41980" r="8724" b="41925"/>
          <a:stretch/>
        </p:blipFill>
        <p:spPr>
          <a:xfrm>
            <a:off x="6544277" y="6347292"/>
            <a:ext cx="1705361" cy="327947"/>
          </a:xfrm>
          <a:prstGeom prst="rect">
            <a:avLst/>
          </a:prstGeom>
        </p:spPr>
      </p:pic>
      <p:sp>
        <p:nvSpPr>
          <p:cNvPr id="8" name="Espaço Reservado para Número de Slide 4">
            <a:extLst>
              <a:ext uri="{FF2B5EF4-FFF2-40B4-BE49-F238E27FC236}">
                <a16:creationId xmlns:a16="http://schemas.microsoft.com/office/drawing/2014/main" id="{6FB72034-355D-49BB-87C1-9B091858F2F2}"/>
              </a:ext>
            </a:extLst>
          </p:cNvPr>
          <p:cNvSpPr txBox="1">
            <a:spLocks/>
          </p:cNvSpPr>
          <p:nvPr/>
        </p:nvSpPr>
        <p:spPr>
          <a:xfrm>
            <a:off x="11529390" y="379620"/>
            <a:ext cx="274983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FB8526-A7DF-44F1-A0A0-E2C9088E152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6ADBD9"/>
                </a:solidFill>
                <a:effectLst/>
                <a:uLnTx/>
                <a:uFillTx/>
                <a:latin typeface="Open Sans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9" name="Pentágono 8">
            <a:extLst>
              <a:ext uri="{FF2B5EF4-FFF2-40B4-BE49-F238E27FC236}">
                <a16:creationId xmlns:a16="http://schemas.microsoft.com/office/drawing/2014/main" id="{644FBE2D-7350-4B46-8585-E858DF5CAE69}"/>
              </a:ext>
            </a:extLst>
          </p:cNvPr>
          <p:cNvSpPr/>
          <p:nvPr/>
        </p:nvSpPr>
        <p:spPr>
          <a:xfrm>
            <a:off x="11529391" y="419377"/>
            <a:ext cx="274983" cy="251791"/>
          </a:xfrm>
          <a:prstGeom prst="pentagon">
            <a:avLst/>
          </a:prstGeom>
          <a:noFill/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11" name="Espaço Reservado para Data 3">
            <a:extLst>
              <a:ext uri="{FF2B5EF4-FFF2-40B4-BE49-F238E27FC236}">
                <a16:creationId xmlns:a16="http://schemas.microsoft.com/office/drawing/2014/main" id="{3850BE76-3D25-4DD5-832D-BE28F194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3357880" cy="336050"/>
          </a:xfrm>
        </p:spPr>
        <p:txBody>
          <a:bodyPr/>
          <a:lstStyle/>
          <a:p>
            <a:r>
              <a:rPr lang="pt-BR" dirty="0"/>
              <a:t>@2020 LABDATA FIA. Copyright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rights</a:t>
            </a:r>
            <a:r>
              <a:rPr lang="pt-BR" dirty="0"/>
              <a:t> </a:t>
            </a:r>
            <a:r>
              <a:rPr lang="pt-BR" dirty="0" err="1"/>
              <a:t>reserved</a:t>
            </a:r>
            <a:r>
              <a:rPr lang="pt-BR" dirty="0"/>
              <a:t>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3FA254E-B6C7-4B61-9013-697EDFB32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39" y="2158430"/>
            <a:ext cx="5009190" cy="3456076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7D96E99E-F409-448E-95D9-1074A656A2F5}"/>
              </a:ext>
            </a:extLst>
          </p:cNvPr>
          <p:cNvSpPr/>
          <p:nvPr/>
        </p:nvSpPr>
        <p:spPr>
          <a:xfrm>
            <a:off x="797718" y="1801855"/>
            <a:ext cx="339836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u="sng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Status por mês de classificação </a:t>
            </a:r>
            <a:endParaRPr kumimoji="0" lang="pt-BR" sz="1400" b="1" i="0" u="sng" strike="noStrike" kern="120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6981DD39-56D3-439C-8359-D954DABC9993}"/>
              </a:ext>
            </a:extLst>
          </p:cNvPr>
          <p:cNvSpPr txBox="1">
            <a:spLocks/>
          </p:cNvSpPr>
          <p:nvPr/>
        </p:nvSpPr>
        <p:spPr>
          <a:xfrm>
            <a:off x="705440" y="165600"/>
            <a:ext cx="6624736" cy="71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spcBef>
                <a:spcPct val="0"/>
              </a:spcBef>
              <a:buNone/>
              <a:defRPr sz="2400">
                <a:solidFill>
                  <a:srgbClr val="02BAB1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Análise</a:t>
            </a:r>
            <a:r>
              <a:rPr lang="en-US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en-US" b="1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exploratória</a:t>
            </a:r>
            <a:endParaRPr lang="en-US" b="1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3C68635-3E23-400D-BDCB-DD517035A712}"/>
              </a:ext>
            </a:extLst>
          </p:cNvPr>
          <p:cNvSpPr/>
          <p:nvPr/>
        </p:nvSpPr>
        <p:spPr>
          <a:xfrm>
            <a:off x="705439" y="671168"/>
            <a:ext cx="1130488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Principais análises – </a:t>
            </a:r>
            <a:r>
              <a:rPr kumimoji="0" lang="pt-BR" sz="1600" i="0" u="none" strike="noStrike" kern="120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customer</a:t>
            </a:r>
            <a:r>
              <a:rPr kumimoji="0" lang="pt-BR" sz="160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kumimoji="0" lang="pt-BR" sz="1600" i="0" u="none" strike="noStrike" kern="120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segmentation</a:t>
            </a:r>
            <a:endParaRPr kumimoji="0" lang="pt-BR" sz="1600" i="0" u="none" strike="noStrike" kern="120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17" name="Picture 12" descr="search data base Icon 2436717">
            <a:extLst>
              <a:ext uri="{FF2B5EF4-FFF2-40B4-BE49-F238E27FC236}">
                <a16:creationId xmlns:a16="http://schemas.microsoft.com/office/drawing/2014/main" id="{20E1A446-2860-40A6-9050-969918951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" y="30949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8609B94E-AD4A-422B-A5CD-450E6D88CE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4359" y="1821080"/>
            <a:ext cx="5800013" cy="4015393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D02BF2FB-9E17-465A-A00B-D37D1DE8CEE8}"/>
              </a:ext>
            </a:extLst>
          </p:cNvPr>
          <p:cNvSpPr/>
          <p:nvPr/>
        </p:nvSpPr>
        <p:spPr>
          <a:xfrm>
            <a:off x="6182211" y="1710913"/>
            <a:ext cx="113036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u="sng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Marlin</a:t>
            </a:r>
            <a:r>
              <a:rPr lang="pt-BR" sz="1400" b="1" u="sng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pt-BR" sz="1400" b="1" u="sng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tag</a:t>
            </a:r>
            <a:endParaRPr kumimoji="0" lang="pt-BR" sz="1400" b="1" i="0" u="sng" strike="noStrike" kern="120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5" name="Google Shape;62;p13">
            <a:extLst>
              <a:ext uri="{FF2B5EF4-FFF2-40B4-BE49-F238E27FC236}">
                <a16:creationId xmlns:a16="http://schemas.microsoft.com/office/drawing/2014/main" id="{7C7C1D6A-ED66-4886-B2D9-B1C6841EE1FA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9259381" y="4383155"/>
            <a:ext cx="2932619" cy="24748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0904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2;p13">
            <a:extLst>
              <a:ext uri="{FF2B5EF4-FFF2-40B4-BE49-F238E27FC236}">
                <a16:creationId xmlns:a16="http://schemas.microsoft.com/office/drawing/2014/main" id="{7C7C1D6A-ED66-4886-B2D9-B1C6841EE1F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259381" y="4383155"/>
            <a:ext cx="2932619" cy="2474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7F95E81-C50F-459F-827F-706312BA7A1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t="41980" r="8724" b="41925"/>
          <a:stretch/>
        </p:blipFill>
        <p:spPr>
          <a:xfrm>
            <a:off x="6544277" y="6347292"/>
            <a:ext cx="1705361" cy="327947"/>
          </a:xfrm>
          <a:prstGeom prst="rect">
            <a:avLst/>
          </a:prstGeom>
        </p:spPr>
      </p:pic>
      <p:sp>
        <p:nvSpPr>
          <p:cNvPr id="8" name="Espaço Reservado para Número de Slide 4">
            <a:extLst>
              <a:ext uri="{FF2B5EF4-FFF2-40B4-BE49-F238E27FC236}">
                <a16:creationId xmlns:a16="http://schemas.microsoft.com/office/drawing/2014/main" id="{6FB72034-355D-49BB-87C1-9B091858F2F2}"/>
              </a:ext>
            </a:extLst>
          </p:cNvPr>
          <p:cNvSpPr txBox="1">
            <a:spLocks/>
          </p:cNvSpPr>
          <p:nvPr/>
        </p:nvSpPr>
        <p:spPr>
          <a:xfrm>
            <a:off x="11448110" y="355600"/>
            <a:ext cx="398450" cy="40946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FB8526-A7DF-44F1-A0A0-E2C9088E152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6ADBD9"/>
                </a:solidFill>
                <a:effectLst/>
                <a:uLnTx/>
                <a:uFillTx/>
                <a:latin typeface="Open Sans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9" name="Pentágono 8">
            <a:extLst>
              <a:ext uri="{FF2B5EF4-FFF2-40B4-BE49-F238E27FC236}">
                <a16:creationId xmlns:a16="http://schemas.microsoft.com/office/drawing/2014/main" id="{644FBE2D-7350-4B46-8585-E858DF5CAE69}"/>
              </a:ext>
            </a:extLst>
          </p:cNvPr>
          <p:cNvSpPr/>
          <p:nvPr/>
        </p:nvSpPr>
        <p:spPr>
          <a:xfrm>
            <a:off x="11529391" y="419377"/>
            <a:ext cx="274983" cy="251791"/>
          </a:xfrm>
          <a:prstGeom prst="pentagon">
            <a:avLst/>
          </a:prstGeom>
          <a:noFill/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F2770125-337A-4266-8924-C98DD38709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3357880" cy="336050"/>
          </a:xfrm>
        </p:spPr>
        <p:txBody>
          <a:bodyPr/>
          <a:lstStyle/>
          <a:p>
            <a:r>
              <a:rPr lang="pt-BR" dirty="0"/>
              <a:t>@2020 LABDATA FIA. Copyright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rights</a:t>
            </a:r>
            <a:r>
              <a:rPr lang="pt-BR" dirty="0"/>
              <a:t> </a:t>
            </a:r>
            <a:r>
              <a:rPr lang="pt-BR" dirty="0" err="1"/>
              <a:t>reserved</a:t>
            </a:r>
            <a:r>
              <a:rPr lang="pt-BR" dirty="0"/>
              <a:t>.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A3734E6-4CA8-476F-9C12-5768A9143DA3}"/>
              </a:ext>
            </a:extLst>
          </p:cNvPr>
          <p:cNvSpPr txBox="1">
            <a:spLocks/>
          </p:cNvSpPr>
          <p:nvPr/>
        </p:nvSpPr>
        <p:spPr>
          <a:xfrm>
            <a:off x="705440" y="165600"/>
            <a:ext cx="6624736" cy="71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spcBef>
                <a:spcPct val="0"/>
              </a:spcBef>
              <a:buNone/>
              <a:defRPr sz="2400">
                <a:solidFill>
                  <a:srgbClr val="02BAB1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Clusterização</a:t>
            </a:r>
            <a:endParaRPr lang="en-US" b="1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14" name="Picture 2" descr="cluster Icon 1455009">
            <a:extLst>
              <a:ext uri="{FF2B5EF4-FFF2-40B4-BE49-F238E27FC236}">
                <a16:creationId xmlns:a16="http://schemas.microsoft.com/office/drawing/2014/main" id="{768AD137-2390-447F-BEEC-16279AA6D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6" y="28972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D6070F63-3161-4BD1-B0F2-BB2A8FF43C3A}"/>
              </a:ext>
            </a:extLst>
          </p:cNvPr>
          <p:cNvSpPr/>
          <p:nvPr/>
        </p:nvSpPr>
        <p:spPr>
          <a:xfrm>
            <a:off x="2697638" y="1312902"/>
            <a:ext cx="113036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u="sng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endParaRPr kumimoji="0" lang="pt-BR" sz="1400" b="1" i="0" u="sng" strike="noStrike" kern="120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0EDFF15-66DD-4262-895E-76851EBFCA70}"/>
              </a:ext>
            </a:extLst>
          </p:cNvPr>
          <p:cNvSpPr txBox="1"/>
          <p:nvPr/>
        </p:nvSpPr>
        <p:spPr>
          <a:xfrm>
            <a:off x="838200" y="1207611"/>
            <a:ext cx="109192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latin typeface="Open Sans" panose="020B0604020202020204"/>
              </a:rPr>
              <a:t>Segmentação sugerida foi feita com os dados de quantidade de </a:t>
            </a:r>
            <a:r>
              <a:rPr lang="pt-BR" sz="1600" b="1" dirty="0">
                <a:latin typeface="Open Sans" panose="020B0604020202020204"/>
              </a:rPr>
              <a:t>eventos de </a:t>
            </a:r>
            <a:r>
              <a:rPr lang="pt-BR" sz="1600" b="1" dirty="0" err="1">
                <a:latin typeface="Open Sans" panose="020B0604020202020204"/>
              </a:rPr>
              <a:t>session</a:t>
            </a:r>
            <a:r>
              <a:rPr lang="pt-BR" sz="1600" b="1" dirty="0">
                <a:latin typeface="Open Sans" panose="020B0604020202020204"/>
              </a:rPr>
              <a:t> </a:t>
            </a:r>
            <a:r>
              <a:rPr lang="pt-BR" sz="1600" b="1" dirty="0" err="1">
                <a:latin typeface="Open Sans" panose="020B0604020202020204"/>
              </a:rPr>
              <a:t>push</a:t>
            </a:r>
            <a:r>
              <a:rPr lang="pt-BR" sz="1600" b="1" dirty="0">
                <a:latin typeface="Open Sans" panose="020B0604020202020204"/>
              </a:rPr>
              <a:t> </a:t>
            </a:r>
            <a:r>
              <a:rPr lang="pt-BR" sz="1600" dirty="0">
                <a:latin typeface="Open Sans" panose="020B0604020202020204"/>
              </a:rPr>
              <a:t>enriquecidos no pipeline.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9FF7488-1AA0-4152-8536-E2657F57DB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354" y="2212193"/>
            <a:ext cx="5097239" cy="3300036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C0B792F7-0BC5-4A2A-8440-E8B404F44ECD}"/>
              </a:ext>
            </a:extLst>
          </p:cNvPr>
          <p:cNvSpPr txBox="1"/>
          <p:nvPr/>
        </p:nvSpPr>
        <p:spPr>
          <a:xfrm>
            <a:off x="6095913" y="2234167"/>
            <a:ext cx="591440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rgbClr val="3274A1"/>
                </a:solidFill>
                <a:latin typeface="Open Sans" panose="020B0604020202020204"/>
              </a:rPr>
              <a:t>Cluster 0 </a:t>
            </a:r>
            <a:r>
              <a:rPr lang="pt-BR" sz="1400" dirty="0">
                <a:latin typeface="Open Sans" panose="020B0604020202020204"/>
              </a:rPr>
              <a:t>- Só olhando (19k)</a:t>
            </a:r>
          </a:p>
          <a:p>
            <a:r>
              <a:rPr lang="pt-BR" sz="1400" dirty="0">
                <a:latin typeface="Open Sans" panose="020B0604020202020204"/>
              </a:rPr>
              <a:t>Receberam </a:t>
            </a:r>
            <a:r>
              <a:rPr lang="pt-BR" sz="1400" dirty="0" err="1">
                <a:latin typeface="Open Sans" panose="020B0604020202020204"/>
              </a:rPr>
              <a:t>push</a:t>
            </a:r>
            <a:r>
              <a:rPr lang="pt-BR" sz="1400" dirty="0">
                <a:latin typeface="Open Sans" panose="020B0604020202020204"/>
              </a:rPr>
              <a:t> mas não realizaram nenhuma compra</a:t>
            </a:r>
          </a:p>
          <a:p>
            <a:r>
              <a:rPr lang="pt-BR" sz="1400" dirty="0">
                <a:latin typeface="Open Sans" panose="020B0604020202020204"/>
              </a:rPr>
              <a:t>média de 0.16 pedidos no mês</a:t>
            </a:r>
          </a:p>
          <a:p>
            <a:r>
              <a:rPr lang="pt-BR" sz="1400" dirty="0">
                <a:latin typeface="Open Sans" panose="020B0604020202020204"/>
              </a:rPr>
              <a:t>média de 55 envios de </a:t>
            </a:r>
            <a:r>
              <a:rPr lang="pt-BR" sz="1400" dirty="0" err="1">
                <a:latin typeface="Open Sans" panose="020B0604020202020204"/>
              </a:rPr>
              <a:t>push</a:t>
            </a:r>
            <a:r>
              <a:rPr lang="pt-BR" sz="1400" dirty="0">
                <a:latin typeface="Open Sans" panose="020B0604020202020204"/>
              </a:rPr>
              <a:t> por mês</a:t>
            </a:r>
          </a:p>
          <a:p>
            <a:endParaRPr lang="pt-BR" sz="1400" b="1" dirty="0">
              <a:solidFill>
                <a:srgbClr val="E1812C"/>
              </a:solidFill>
              <a:latin typeface="Open Sans" panose="020B0604020202020204"/>
            </a:endParaRPr>
          </a:p>
          <a:p>
            <a:r>
              <a:rPr lang="pt-BR" sz="1400" b="1" dirty="0">
                <a:solidFill>
                  <a:srgbClr val="E1812C"/>
                </a:solidFill>
                <a:latin typeface="Open Sans" panose="020B0604020202020204"/>
              </a:rPr>
              <a:t>Cluster 1 </a:t>
            </a:r>
            <a:r>
              <a:rPr lang="pt-BR" sz="1400" dirty="0">
                <a:latin typeface="Open Sans" panose="020B0604020202020204"/>
              </a:rPr>
              <a:t>- Regulares (0,7k)</a:t>
            </a:r>
          </a:p>
          <a:p>
            <a:r>
              <a:rPr lang="pt-BR" sz="1400" dirty="0">
                <a:latin typeface="Open Sans" panose="020B0604020202020204"/>
              </a:rPr>
              <a:t>Cliente que costumar realizar compras regularmente</a:t>
            </a:r>
          </a:p>
          <a:p>
            <a:r>
              <a:rPr lang="pt-BR" sz="1400" dirty="0">
                <a:latin typeface="Open Sans" panose="020B0604020202020204"/>
              </a:rPr>
              <a:t>média de 5 pedidos no mês</a:t>
            </a:r>
          </a:p>
          <a:p>
            <a:r>
              <a:rPr lang="pt-BR" sz="1400" dirty="0">
                <a:latin typeface="Open Sans" panose="020B0604020202020204"/>
              </a:rPr>
              <a:t>média de 106 envios por mês</a:t>
            </a:r>
          </a:p>
          <a:p>
            <a:endParaRPr lang="pt-BR" sz="1400" b="1" dirty="0">
              <a:solidFill>
                <a:srgbClr val="3A923A"/>
              </a:solidFill>
              <a:latin typeface="Open Sans" panose="020B0604020202020204"/>
            </a:endParaRPr>
          </a:p>
          <a:p>
            <a:r>
              <a:rPr lang="pt-BR" sz="1400" b="1" dirty="0">
                <a:solidFill>
                  <a:srgbClr val="3A923A"/>
                </a:solidFill>
                <a:latin typeface="Open Sans" panose="020B0604020202020204"/>
              </a:rPr>
              <a:t>Cluster 2 </a:t>
            </a:r>
            <a:r>
              <a:rPr lang="pt-BR" sz="1400" dirty="0">
                <a:latin typeface="Open Sans" panose="020B0604020202020204"/>
              </a:rPr>
              <a:t>- Experimentou (5k)</a:t>
            </a:r>
          </a:p>
          <a:p>
            <a:r>
              <a:rPr lang="pt-BR" sz="1400" dirty="0">
                <a:latin typeface="Open Sans" panose="020B0604020202020204"/>
              </a:rPr>
              <a:t>Cliente que experimentaram o aplicativo e fizeram poucos pedidos</a:t>
            </a:r>
          </a:p>
          <a:p>
            <a:r>
              <a:rPr lang="pt-BR" sz="1400" dirty="0">
                <a:latin typeface="Open Sans" panose="020B0604020202020204"/>
              </a:rPr>
              <a:t>média de 2 pedidos no mês</a:t>
            </a:r>
          </a:p>
          <a:p>
            <a:r>
              <a:rPr lang="pt-BR" sz="1400" dirty="0">
                <a:latin typeface="Open Sans" panose="020B0604020202020204"/>
              </a:rPr>
              <a:t>média de 80 envios por mês</a:t>
            </a:r>
          </a:p>
        </p:txBody>
      </p:sp>
    </p:spTree>
    <p:extLst>
      <p:ext uri="{BB962C8B-B14F-4D97-AF65-F5344CB8AC3E}">
        <p14:creationId xmlns:p14="http://schemas.microsoft.com/office/powerpoint/2010/main" val="2740924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2;p13">
            <a:extLst>
              <a:ext uri="{FF2B5EF4-FFF2-40B4-BE49-F238E27FC236}">
                <a16:creationId xmlns:a16="http://schemas.microsoft.com/office/drawing/2014/main" id="{7C7C1D6A-ED66-4886-B2D9-B1C6841EE1F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259381" y="4383155"/>
            <a:ext cx="2932619" cy="2474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7F95E81-C50F-459F-827F-706312BA7A1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t="41980" r="8724" b="41925"/>
          <a:stretch/>
        </p:blipFill>
        <p:spPr>
          <a:xfrm>
            <a:off x="6544277" y="6347292"/>
            <a:ext cx="1705361" cy="327947"/>
          </a:xfrm>
          <a:prstGeom prst="rect">
            <a:avLst/>
          </a:prstGeom>
        </p:spPr>
      </p:pic>
      <p:sp>
        <p:nvSpPr>
          <p:cNvPr id="8" name="Espaço Reservado para Número de Slide 4">
            <a:extLst>
              <a:ext uri="{FF2B5EF4-FFF2-40B4-BE49-F238E27FC236}">
                <a16:creationId xmlns:a16="http://schemas.microsoft.com/office/drawing/2014/main" id="{6FB72034-355D-49BB-87C1-9B091858F2F2}"/>
              </a:ext>
            </a:extLst>
          </p:cNvPr>
          <p:cNvSpPr txBox="1">
            <a:spLocks/>
          </p:cNvSpPr>
          <p:nvPr/>
        </p:nvSpPr>
        <p:spPr>
          <a:xfrm>
            <a:off x="11448110" y="355600"/>
            <a:ext cx="398450" cy="40946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FB8526-A7DF-44F1-A0A0-E2C9088E152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6ADBD9"/>
                </a:solidFill>
                <a:effectLst/>
                <a:uLnTx/>
                <a:uFillTx/>
                <a:latin typeface="Open Sans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9" name="Pentágono 8">
            <a:extLst>
              <a:ext uri="{FF2B5EF4-FFF2-40B4-BE49-F238E27FC236}">
                <a16:creationId xmlns:a16="http://schemas.microsoft.com/office/drawing/2014/main" id="{644FBE2D-7350-4B46-8585-E858DF5CAE69}"/>
              </a:ext>
            </a:extLst>
          </p:cNvPr>
          <p:cNvSpPr/>
          <p:nvPr/>
        </p:nvSpPr>
        <p:spPr>
          <a:xfrm>
            <a:off x="11529391" y="419377"/>
            <a:ext cx="274983" cy="251791"/>
          </a:xfrm>
          <a:prstGeom prst="pentagon">
            <a:avLst/>
          </a:prstGeom>
          <a:noFill/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F2770125-337A-4266-8924-C98DD38709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3357880" cy="336050"/>
          </a:xfrm>
        </p:spPr>
        <p:txBody>
          <a:bodyPr/>
          <a:lstStyle/>
          <a:p>
            <a:r>
              <a:rPr lang="pt-BR" dirty="0"/>
              <a:t>@2020 LABDATA FIA. Copyright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rights</a:t>
            </a:r>
            <a:r>
              <a:rPr lang="pt-BR" dirty="0"/>
              <a:t> </a:t>
            </a:r>
            <a:r>
              <a:rPr lang="pt-BR" dirty="0" err="1"/>
              <a:t>reserved</a:t>
            </a:r>
            <a:r>
              <a:rPr lang="pt-BR" dirty="0"/>
              <a:t>.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A3734E6-4CA8-476F-9C12-5768A9143DA3}"/>
              </a:ext>
            </a:extLst>
          </p:cNvPr>
          <p:cNvSpPr txBox="1">
            <a:spLocks/>
          </p:cNvSpPr>
          <p:nvPr/>
        </p:nvSpPr>
        <p:spPr>
          <a:xfrm>
            <a:off x="705440" y="165600"/>
            <a:ext cx="6624736" cy="71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spcBef>
                <a:spcPct val="0"/>
              </a:spcBef>
              <a:buNone/>
              <a:defRPr sz="2400">
                <a:solidFill>
                  <a:srgbClr val="02BAB1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Clusterização</a:t>
            </a:r>
            <a:endParaRPr lang="en-US" b="1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14" name="Picture 2" descr="cluster Icon 1455009">
            <a:extLst>
              <a:ext uri="{FF2B5EF4-FFF2-40B4-BE49-F238E27FC236}">
                <a16:creationId xmlns:a16="http://schemas.microsoft.com/office/drawing/2014/main" id="{768AD137-2390-447F-BEEC-16279AA6D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6" y="28972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D6070F63-3161-4BD1-B0F2-BB2A8FF43C3A}"/>
              </a:ext>
            </a:extLst>
          </p:cNvPr>
          <p:cNvSpPr/>
          <p:nvPr/>
        </p:nvSpPr>
        <p:spPr>
          <a:xfrm>
            <a:off x="2697638" y="1312902"/>
            <a:ext cx="113036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u="sng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endParaRPr kumimoji="0" lang="pt-BR" sz="1400" b="1" i="0" u="sng" strike="noStrike" kern="120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AC99C7B-D04D-4CE5-A578-629CAD4E10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5726" y="1043669"/>
            <a:ext cx="5770880" cy="243934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63F8D20-F83A-451E-A075-3EF74CA9DFB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3058"/>
          <a:stretch/>
        </p:blipFill>
        <p:spPr>
          <a:xfrm>
            <a:off x="1425439" y="3456887"/>
            <a:ext cx="3897117" cy="2498515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6F2C72D1-F6FA-440D-9B2F-58331E9F50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8996" y="3476815"/>
            <a:ext cx="5765804" cy="2498515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91E80AEE-68BB-4417-81FA-F14F839930C5}"/>
              </a:ext>
            </a:extLst>
          </p:cNvPr>
          <p:cNvSpPr txBox="1"/>
          <p:nvPr/>
        </p:nvSpPr>
        <p:spPr>
          <a:xfrm>
            <a:off x="1649241" y="1225087"/>
            <a:ext cx="12721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rgbClr val="3274A1"/>
                </a:solidFill>
                <a:latin typeface="Open Sans" panose="020B0604020202020204"/>
              </a:rPr>
              <a:t>Cluster 0 </a:t>
            </a:r>
          </a:p>
          <a:p>
            <a:r>
              <a:rPr lang="pt-BR" sz="1400" dirty="0">
                <a:latin typeface="Open Sans" panose="020B0604020202020204"/>
              </a:rPr>
              <a:t>Só olhando</a:t>
            </a:r>
          </a:p>
          <a:p>
            <a:endParaRPr lang="pt-BR" sz="1400" b="1" dirty="0">
              <a:solidFill>
                <a:srgbClr val="E1812C"/>
              </a:solidFill>
              <a:latin typeface="Open Sans" panose="020B0604020202020204"/>
            </a:endParaRPr>
          </a:p>
          <a:p>
            <a:r>
              <a:rPr lang="pt-BR" sz="1400" b="1" dirty="0">
                <a:solidFill>
                  <a:srgbClr val="E1812C"/>
                </a:solidFill>
                <a:latin typeface="Open Sans" panose="020B0604020202020204"/>
              </a:rPr>
              <a:t>Cluster 1</a:t>
            </a:r>
          </a:p>
          <a:p>
            <a:r>
              <a:rPr lang="pt-BR" sz="1400" dirty="0">
                <a:latin typeface="Open Sans" panose="020B0604020202020204"/>
              </a:rPr>
              <a:t>Regulares</a:t>
            </a:r>
          </a:p>
          <a:p>
            <a:endParaRPr lang="pt-BR" sz="1400" dirty="0">
              <a:latin typeface="Open Sans" panose="020B0604020202020204"/>
            </a:endParaRPr>
          </a:p>
          <a:p>
            <a:r>
              <a:rPr lang="pt-BR" sz="1400" b="1" dirty="0">
                <a:solidFill>
                  <a:srgbClr val="3A923A"/>
                </a:solidFill>
                <a:latin typeface="Open Sans" panose="020B0604020202020204"/>
              </a:rPr>
              <a:t>Cluster 2 </a:t>
            </a:r>
          </a:p>
          <a:p>
            <a:r>
              <a:rPr lang="pt-BR" sz="1400" dirty="0">
                <a:latin typeface="Open Sans" panose="020B0604020202020204"/>
              </a:rPr>
              <a:t>Experimentou</a:t>
            </a:r>
          </a:p>
          <a:p>
            <a:endParaRPr lang="pt-BR" sz="1400" dirty="0">
              <a:latin typeface="Open Sans" panose="020B0604020202020204"/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68B67CAD-0B71-4C4A-B6DE-8E41C7FCA0D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71" r="66505"/>
          <a:stretch/>
        </p:blipFill>
        <p:spPr>
          <a:xfrm>
            <a:off x="8916089" y="958372"/>
            <a:ext cx="1899241" cy="249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99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2;p13">
            <a:extLst>
              <a:ext uri="{FF2B5EF4-FFF2-40B4-BE49-F238E27FC236}">
                <a16:creationId xmlns:a16="http://schemas.microsoft.com/office/drawing/2014/main" id="{7C7C1D6A-ED66-4886-B2D9-B1C6841EE1F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259381" y="4383155"/>
            <a:ext cx="2932619" cy="247484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Espaço Reservado para Número de Slide 4">
            <a:extLst>
              <a:ext uri="{FF2B5EF4-FFF2-40B4-BE49-F238E27FC236}">
                <a16:creationId xmlns:a16="http://schemas.microsoft.com/office/drawing/2014/main" id="{6FB72034-355D-49BB-87C1-9B091858F2F2}"/>
              </a:ext>
            </a:extLst>
          </p:cNvPr>
          <p:cNvSpPr txBox="1">
            <a:spLocks/>
          </p:cNvSpPr>
          <p:nvPr/>
        </p:nvSpPr>
        <p:spPr>
          <a:xfrm>
            <a:off x="11448110" y="355600"/>
            <a:ext cx="398450" cy="40946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FB8526-A7DF-44F1-A0A0-E2C9088E152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6ADBD9"/>
                </a:solidFill>
                <a:effectLst/>
                <a:uLnTx/>
                <a:uFillTx/>
                <a:latin typeface="Open Sans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9" name="Pentágono 8">
            <a:extLst>
              <a:ext uri="{FF2B5EF4-FFF2-40B4-BE49-F238E27FC236}">
                <a16:creationId xmlns:a16="http://schemas.microsoft.com/office/drawing/2014/main" id="{644FBE2D-7350-4B46-8585-E858DF5CAE69}"/>
              </a:ext>
            </a:extLst>
          </p:cNvPr>
          <p:cNvSpPr/>
          <p:nvPr/>
        </p:nvSpPr>
        <p:spPr>
          <a:xfrm>
            <a:off x="11529391" y="419377"/>
            <a:ext cx="274983" cy="251791"/>
          </a:xfrm>
          <a:prstGeom prst="pentagon">
            <a:avLst/>
          </a:prstGeom>
          <a:noFill/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A3734E6-4CA8-476F-9C12-5768A9143DA3}"/>
              </a:ext>
            </a:extLst>
          </p:cNvPr>
          <p:cNvSpPr txBox="1">
            <a:spLocks/>
          </p:cNvSpPr>
          <p:nvPr/>
        </p:nvSpPr>
        <p:spPr>
          <a:xfrm>
            <a:off x="705440" y="165600"/>
            <a:ext cx="6624736" cy="71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spcBef>
                <a:spcPct val="0"/>
              </a:spcBef>
              <a:buNone/>
              <a:defRPr sz="2400">
                <a:solidFill>
                  <a:srgbClr val="02BAB1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Recomendação</a:t>
            </a:r>
            <a:endParaRPr lang="en-US" b="1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17" name="Picture 6" descr="Food Icon 3073486">
            <a:extLst>
              <a:ext uri="{FF2B5EF4-FFF2-40B4-BE49-F238E27FC236}">
                <a16:creationId xmlns:a16="http://schemas.microsoft.com/office/drawing/2014/main" id="{D681BC08-C1F9-4F23-B4A9-311D75839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6" y="224278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EC5C3340-3A5B-476B-928E-B11B0289C027}"/>
              </a:ext>
            </a:extLst>
          </p:cNvPr>
          <p:cNvSpPr txBox="1"/>
          <p:nvPr/>
        </p:nvSpPr>
        <p:spPr>
          <a:xfrm>
            <a:off x="705440" y="679113"/>
            <a:ext cx="9718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600" b="0" i="0" dirty="0">
                <a:solidFill>
                  <a:srgbClr val="333333"/>
                </a:solidFill>
                <a:effectLst/>
                <a:latin typeface="Open Sans" panose="020B0604020202020204"/>
              </a:rPr>
              <a:t>Qual a recomendação para o próximo pedido do cliente?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33584948-136F-4A34-B2EE-43E394DD3C4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1788" t="4989" r="18513" b="9646"/>
          <a:stretch/>
        </p:blipFill>
        <p:spPr>
          <a:xfrm>
            <a:off x="1251521" y="4561885"/>
            <a:ext cx="4205564" cy="2245164"/>
          </a:xfrm>
          <a:prstGeom prst="rect">
            <a:avLst/>
          </a:prstGeom>
        </p:spPr>
      </p:pic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4C158ED3-93DA-4233-A435-189245CF0885}"/>
              </a:ext>
            </a:extLst>
          </p:cNvPr>
          <p:cNvSpPr/>
          <p:nvPr/>
        </p:nvSpPr>
        <p:spPr>
          <a:xfrm>
            <a:off x="285307" y="2140026"/>
            <a:ext cx="11621386" cy="338554"/>
          </a:xfrm>
          <a:prstGeom prst="rightArrow">
            <a:avLst/>
          </a:prstGeom>
          <a:noFill/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8BD3D6E9-DC51-4DD7-B9AC-21BA60FD263B}"/>
              </a:ext>
            </a:extLst>
          </p:cNvPr>
          <p:cNvSpPr/>
          <p:nvPr/>
        </p:nvSpPr>
        <p:spPr>
          <a:xfrm>
            <a:off x="918409" y="2129303"/>
            <a:ext cx="360000" cy="360000"/>
          </a:xfrm>
          <a:prstGeom prst="ellipse">
            <a:avLst/>
          </a:prstGeom>
          <a:solidFill>
            <a:srgbClr val="6ADBD9"/>
          </a:solidFill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1E563DC1-733D-4CBA-B32D-4A8380C87CC5}"/>
              </a:ext>
            </a:extLst>
          </p:cNvPr>
          <p:cNvSpPr/>
          <p:nvPr/>
        </p:nvSpPr>
        <p:spPr>
          <a:xfrm>
            <a:off x="3809693" y="2129303"/>
            <a:ext cx="360000" cy="360000"/>
          </a:xfrm>
          <a:prstGeom prst="ellipse">
            <a:avLst/>
          </a:prstGeom>
          <a:solidFill>
            <a:srgbClr val="6ADBD9"/>
          </a:solidFill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E7145B6E-A8AF-4ACA-9214-E245C7E360D6}"/>
              </a:ext>
            </a:extLst>
          </p:cNvPr>
          <p:cNvSpPr/>
          <p:nvPr/>
        </p:nvSpPr>
        <p:spPr>
          <a:xfrm>
            <a:off x="6813711" y="2129303"/>
            <a:ext cx="360000" cy="360000"/>
          </a:xfrm>
          <a:prstGeom prst="ellipse">
            <a:avLst/>
          </a:prstGeom>
          <a:solidFill>
            <a:srgbClr val="6ADBD9"/>
          </a:solidFill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7E8FA15A-B1D7-45FE-94CD-55B4D6CFC7D1}"/>
              </a:ext>
            </a:extLst>
          </p:cNvPr>
          <p:cNvSpPr/>
          <p:nvPr/>
        </p:nvSpPr>
        <p:spPr>
          <a:xfrm>
            <a:off x="10231087" y="2129303"/>
            <a:ext cx="360000" cy="360000"/>
          </a:xfrm>
          <a:prstGeom prst="ellipse">
            <a:avLst/>
          </a:prstGeom>
          <a:solidFill>
            <a:srgbClr val="6ADBD9"/>
          </a:solidFill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A0C1C9FE-7648-4DB7-91E1-23EA8C42FA83}"/>
              </a:ext>
            </a:extLst>
          </p:cNvPr>
          <p:cNvSpPr txBox="1"/>
          <p:nvPr/>
        </p:nvSpPr>
        <p:spPr>
          <a:xfrm>
            <a:off x="456753" y="2511682"/>
            <a:ext cx="12833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0" i="0" dirty="0">
                <a:solidFill>
                  <a:srgbClr val="333333"/>
                </a:solidFill>
                <a:effectLst/>
                <a:latin typeface="Open Sans" panose="020B0604020202020204"/>
              </a:rPr>
              <a:t>Carregar ABT</a:t>
            </a: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F760C83F-ED56-4834-938E-B4ADAE2AE5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1745" y="3106834"/>
            <a:ext cx="7091852" cy="1304604"/>
          </a:xfrm>
          <a:prstGeom prst="rect">
            <a:avLst/>
          </a:prstGeom>
        </p:spPr>
      </p:pic>
      <p:sp>
        <p:nvSpPr>
          <p:cNvPr id="40" name="CaixaDeTexto 39">
            <a:extLst>
              <a:ext uri="{FF2B5EF4-FFF2-40B4-BE49-F238E27FC236}">
                <a16:creationId xmlns:a16="http://schemas.microsoft.com/office/drawing/2014/main" id="{2F8D82AC-5145-4123-8DC6-CF92CF91FAAB}"/>
              </a:ext>
            </a:extLst>
          </p:cNvPr>
          <p:cNvSpPr txBox="1"/>
          <p:nvPr/>
        </p:nvSpPr>
        <p:spPr>
          <a:xfrm>
            <a:off x="3348037" y="2536516"/>
            <a:ext cx="12833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0" i="0" dirty="0">
                <a:solidFill>
                  <a:srgbClr val="333333"/>
                </a:solidFill>
                <a:effectLst/>
                <a:latin typeface="Open Sans" panose="020B0604020202020204"/>
              </a:rPr>
              <a:t>Treino/Teste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7386AAEF-29A8-4FBF-9CA0-337E28EC2320}"/>
              </a:ext>
            </a:extLst>
          </p:cNvPr>
          <p:cNvSpPr txBox="1"/>
          <p:nvPr/>
        </p:nvSpPr>
        <p:spPr>
          <a:xfrm>
            <a:off x="6336931" y="2537621"/>
            <a:ext cx="12833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0" i="0" dirty="0" err="1">
                <a:solidFill>
                  <a:srgbClr val="333333"/>
                </a:solidFill>
                <a:effectLst/>
                <a:latin typeface="Open Sans" panose="020B0604020202020204"/>
              </a:rPr>
              <a:t>Decision</a:t>
            </a:r>
            <a:r>
              <a:rPr lang="pt-BR" sz="1400" b="0" i="0" dirty="0">
                <a:solidFill>
                  <a:srgbClr val="333333"/>
                </a:solidFill>
                <a:effectLst/>
                <a:latin typeface="Open Sans" panose="020B0604020202020204"/>
              </a:rPr>
              <a:t> </a:t>
            </a:r>
            <a:r>
              <a:rPr lang="pt-BR" sz="1400" b="0" i="0" dirty="0" err="1">
                <a:solidFill>
                  <a:srgbClr val="333333"/>
                </a:solidFill>
                <a:effectLst/>
                <a:latin typeface="Open Sans" panose="020B0604020202020204"/>
              </a:rPr>
              <a:t>Tree</a:t>
            </a:r>
            <a:endParaRPr lang="pt-BR" sz="1400" b="0" i="0" dirty="0">
              <a:solidFill>
                <a:srgbClr val="333333"/>
              </a:solidFill>
              <a:effectLst/>
              <a:latin typeface="Open Sans" panose="020B0604020202020204"/>
            </a:endParaRP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86D26A30-8325-46EE-9FF2-4519532ED6C9}"/>
              </a:ext>
            </a:extLst>
          </p:cNvPr>
          <p:cNvSpPr txBox="1"/>
          <p:nvPr/>
        </p:nvSpPr>
        <p:spPr>
          <a:xfrm>
            <a:off x="9780782" y="2541548"/>
            <a:ext cx="12833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0" i="0" dirty="0">
                <a:solidFill>
                  <a:srgbClr val="333333"/>
                </a:solidFill>
                <a:effectLst/>
                <a:latin typeface="Open Sans" panose="020B0604020202020204"/>
              </a:rPr>
              <a:t>Avaliação</a:t>
            </a: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A28B925E-02F2-4F81-913B-D56E5770A664}"/>
              </a:ext>
            </a:extLst>
          </p:cNvPr>
          <p:cNvSpPr/>
          <p:nvPr/>
        </p:nvSpPr>
        <p:spPr>
          <a:xfrm>
            <a:off x="598106" y="3231574"/>
            <a:ext cx="360000" cy="360000"/>
          </a:xfrm>
          <a:prstGeom prst="ellipse">
            <a:avLst/>
          </a:prstGeom>
          <a:solidFill>
            <a:srgbClr val="6ADBD9"/>
          </a:solidFill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D9463139-0ED2-4294-B750-B564833D1941}"/>
              </a:ext>
            </a:extLst>
          </p:cNvPr>
          <p:cNvSpPr txBox="1"/>
          <p:nvPr/>
        </p:nvSpPr>
        <p:spPr>
          <a:xfrm>
            <a:off x="8478874" y="3220527"/>
            <a:ext cx="27343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600" b="1" i="0" dirty="0">
                <a:solidFill>
                  <a:srgbClr val="333333"/>
                </a:solidFill>
                <a:effectLst/>
                <a:latin typeface="Open Sans" panose="020B0604020202020204"/>
              </a:rPr>
              <a:t>0 – Lanches</a:t>
            </a:r>
          </a:p>
          <a:p>
            <a:pPr algn="l"/>
            <a:r>
              <a:rPr lang="pt-BR" sz="1600" b="1" i="0" dirty="0">
                <a:solidFill>
                  <a:srgbClr val="333333"/>
                </a:solidFill>
                <a:effectLst/>
                <a:latin typeface="Open Sans" panose="020B0604020202020204"/>
              </a:rPr>
              <a:t>1 – Comida Brasileira</a:t>
            </a:r>
          </a:p>
          <a:p>
            <a:pPr algn="l"/>
            <a:r>
              <a:rPr lang="pt-BR" sz="1600" b="1" dirty="0">
                <a:solidFill>
                  <a:srgbClr val="333333"/>
                </a:solidFill>
                <a:latin typeface="Open Sans" panose="020B0604020202020204"/>
              </a:rPr>
              <a:t>2 – Pizza</a:t>
            </a:r>
          </a:p>
          <a:p>
            <a:pPr algn="l"/>
            <a:r>
              <a:rPr lang="pt-BR" sz="1600" b="1" i="0" dirty="0">
                <a:solidFill>
                  <a:srgbClr val="333333"/>
                </a:solidFill>
                <a:effectLst/>
                <a:latin typeface="Open Sans" panose="020B0604020202020204"/>
              </a:rPr>
              <a:t>3 - </a:t>
            </a:r>
            <a:r>
              <a:rPr lang="pt-BR" sz="1600" b="1" i="0" dirty="0" err="1">
                <a:solidFill>
                  <a:srgbClr val="333333"/>
                </a:solidFill>
                <a:effectLst/>
                <a:latin typeface="Open Sans" panose="020B0604020202020204"/>
              </a:rPr>
              <a:t>Outos</a:t>
            </a:r>
            <a:endParaRPr lang="pt-BR" sz="1600" b="1" i="0" dirty="0">
              <a:solidFill>
                <a:srgbClr val="333333"/>
              </a:solidFill>
              <a:effectLst/>
              <a:latin typeface="Open Sans" panose="020B0604020202020204"/>
            </a:endParaRP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FBDEF221-189C-4B85-8F32-5F68A3E5B5C2}"/>
              </a:ext>
            </a:extLst>
          </p:cNvPr>
          <p:cNvSpPr txBox="1"/>
          <p:nvPr/>
        </p:nvSpPr>
        <p:spPr>
          <a:xfrm>
            <a:off x="1236980" y="1206897"/>
            <a:ext cx="9718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600" b="0" i="0" dirty="0">
                <a:solidFill>
                  <a:srgbClr val="333333"/>
                </a:solidFill>
                <a:effectLst/>
                <a:latin typeface="Open Sans" panose="020B0604020202020204"/>
              </a:rPr>
              <a:t>Abordamos este problema como sendo a predição do próximo tipo de prato baseado nos quatro pratos mais frequentes.</a:t>
            </a:r>
          </a:p>
        </p:txBody>
      </p:sp>
    </p:spTree>
    <p:extLst>
      <p:ext uri="{BB962C8B-B14F-4D97-AF65-F5344CB8AC3E}">
        <p14:creationId xmlns:p14="http://schemas.microsoft.com/office/powerpoint/2010/main" val="2705298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5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2;p13">
            <a:extLst>
              <a:ext uri="{FF2B5EF4-FFF2-40B4-BE49-F238E27FC236}">
                <a16:creationId xmlns:a16="http://schemas.microsoft.com/office/drawing/2014/main" id="{7C7C1D6A-ED66-4886-B2D9-B1C6841EE1F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259381" y="4383155"/>
            <a:ext cx="2932619" cy="2474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7F95E81-C50F-459F-827F-706312BA7A1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t="41980" r="8724" b="41925"/>
          <a:stretch/>
        </p:blipFill>
        <p:spPr>
          <a:xfrm>
            <a:off x="6544277" y="6347292"/>
            <a:ext cx="1705361" cy="327947"/>
          </a:xfrm>
          <a:prstGeom prst="rect">
            <a:avLst/>
          </a:prstGeom>
        </p:spPr>
      </p:pic>
      <p:sp>
        <p:nvSpPr>
          <p:cNvPr id="8" name="Espaço Reservado para Número de Slide 4">
            <a:extLst>
              <a:ext uri="{FF2B5EF4-FFF2-40B4-BE49-F238E27FC236}">
                <a16:creationId xmlns:a16="http://schemas.microsoft.com/office/drawing/2014/main" id="{6FB72034-355D-49BB-87C1-9B091858F2F2}"/>
              </a:ext>
            </a:extLst>
          </p:cNvPr>
          <p:cNvSpPr txBox="1">
            <a:spLocks/>
          </p:cNvSpPr>
          <p:nvPr/>
        </p:nvSpPr>
        <p:spPr>
          <a:xfrm>
            <a:off x="11448110" y="355600"/>
            <a:ext cx="398450" cy="40946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FB8526-A7DF-44F1-A0A0-E2C9088E152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6ADBD9"/>
                </a:solidFill>
                <a:effectLst/>
                <a:uLnTx/>
                <a:uFillTx/>
                <a:latin typeface="Open Sans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9" name="Pentágono 8">
            <a:extLst>
              <a:ext uri="{FF2B5EF4-FFF2-40B4-BE49-F238E27FC236}">
                <a16:creationId xmlns:a16="http://schemas.microsoft.com/office/drawing/2014/main" id="{644FBE2D-7350-4B46-8585-E858DF5CAE69}"/>
              </a:ext>
            </a:extLst>
          </p:cNvPr>
          <p:cNvSpPr/>
          <p:nvPr/>
        </p:nvSpPr>
        <p:spPr>
          <a:xfrm>
            <a:off x="11529391" y="419377"/>
            <a:ext cx="274983" cy="251791"/>
          </a:xfrm>
          <a:prstGeom prst="pentagon">
            <a:avLst/>
          </a:prstGeom>
          <a:noFill/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F2770125-337A-4266-8924-C98DD38709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3357880" cy="336050"/>
          </a:xfrm>
        </p:spPr>
        <p:txBody>
          <a:bodyPr/>
          <a:lstStyle/>
          <a:p>
            <a:r>
              <a:rPr lang="pt-BR" dirty="0"/>
              <a:t>@2020 LABDATA FIA. Copyright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rights</a:t>
            </a:r>
            <a:r>
              <a:rPr lang="pt-BR" dirty="0"/>
              <a:t> </a:t>
            </a:r>
            <a:r>
              <a:rPr lang="pt-BR" dirty="0" err="1"/>
              <a:t>reserved</a:t>
            </a:r>
            <a:r>
              <a:rPr lang="pt-BR" dirty="0"/>
              <a:t>.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A3734E6-4CA8-476F-9C12-5768A9143DA3}"/>
              </a:ext>
            </a:extLst>
          </p:cNvPr>
          <p:cNvSpPr txBox="1">
            <a:spLocks/>
          </p:cNvSpPr>
          <p:nvPr/>
        </p:nvSpPr>
        <p:spPr>
          <a:xfrm>
            <a:off x="705440" y="165600"/>
            <a:ext cx="6624736" cy="71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spcBef>
                <a:spcPct val="0"/>
              </a:spcBef>
              <a:buNone/>
              <a:defRPr sz="2400">
                <a:solidFill>
                  <a:srgbClr val="02BAB1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Business Case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C5C3340-3A5B-476B-928E-B11B0289C027}"/>
              </a:ext>
            </a:extLst>
          </p:cNvPr>
          <p:cNvSpPr txBox="1"/>
          <p:nvPr/>
        </p:nvSpPr>
        <p:spPr>
          <a:xfrm>
            <a:off x="705440" y="679113"/>
            <a:ext cx="9718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600" b="0" i="0" dirty="0">
                <a:solidFill>
                  <a:srgbClr val="333333"/>
                </a:solidFill>
                <a:effectLst/>
                <a:latin typeface="Open Sans" panose="020B0604020202020204"/>
              </a:rPr>
              <a:t>Como gerar valor para o </a:t>
            </a:r>
            <a:r>
              <a:rPr lang="pt-BR" sz="1600" b="0" i="0" dirty="0" err="1">
                <a:solidFill>
                  <a:srgbClr val="333333"/>
                </a:solidFill>
                <a:effectLst/>
                <a:latin typeface="Open Sans" panose="020B0604020202020204"/>
              </a:rPr>
              <a:t>Ifood</a:t>
            </a:r>
            <a:endParaRPr lang="pt-BR" sz="1600" b="0" i="0" dirty="0">
              <a:solidFill>
                <a:srgbClr val="333333"/>
              </a:solidFill>
              <a:effectLst/>
              <a:latin typeface="Open Sans" panose="020B0604020202020204"/>
            </a:endParaRPr>
          </a:p>
        </p:txBody>
      </p:sp>
      <p:pic>
        <p:nvPicPr>
          <p:cNvPr id="15" name="Picture 10" descr="Machine Learning Icon 2010152">
            <a:extLst>
              <a:ext uri="{FF2B5EF4-FFF2-40B4-BE49-F238E27FC236}">
                <a16:creationId xmlns:a16="http://schemas.microsoft.com/office/drawing/2014/main" id="{9FAE052B-8AD7-4009-B5A1-FE7FEA098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5" y="297667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095C22CF-0CFE-4857-A436-0FEC4A8239DD}"/>
              </a:ext>
            </a:extLst>
          </p:cNvPr>
          <p:cNvSpPr/>
          <p:nvPr/>
        </p:nvSpPr>
        <p:spPr>
          <a:xfrm>
            <a:off x="915918" y="1328142"/>
            <a:ext cx="103601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Avaliamos as bases disponíveis</a:t>
            </a:r>
            <a:r>
              <a:rPr lang="pt-BR" sz="1400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verificamos uma </a:t>
            </a:r>
            <a:r>
              <a:rPr lang="pt-BR" sz="1400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grande ocorrência de clientes </a:t>
            </a:r>
            <a:r>
              <a:rPr lang="pt-BR" sz="1400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que fizeram </a:t>
            </a:r>
            <a:r>
              <a:rPr lang="pt-BR" sz="1400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somente um pedido </a:t>
            </a:r>
            <a:r>
              <a:rPr lang="pt-BR" sz="1400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no período. </a:t>
            </a: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CAE3D83-D770-4D73-9236-D0A1639460DC}"/>
              </a:ext>
            </a:extLst>
          </p:cNvPr>
          <p:cNvSpPr/>
          <p:nvPr/>
        </p:nvSpPr>
        <p:spPr>
          <a:xfrm>
            <a:off x="3396431" y="2175086"/>
            <a:ext cx="5399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pt-BR" b="1" i="0" u="none" strike="noStrike" kern="1200" cap="none" spc="0" normalizeH="0" baseline="0" noProof="0" dirty="0">
                <a:ln>
                  <a:noFill/>
                </a:ln>
                <a:solidFill>
                  <a:srgbClr val="6ADBD9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CUSTOMER AQUISITION VS RETENTION COST</a:t>
            </a:r>
          </a:p>
        </p:txBody>
      </p:sp>
      <p:pic>
        <p:nvPicPr>
          <p:cNvPr id="5128" name="Picture 8" descr="X Icon 3388368">
            <a:extLst>
              <a:ext uri="{FF2B5EF4-FFF2-40B4-BE49-F238E27FC236}">
                <a16:creationId xmlns:a16="http://schemas.microsoft.com/office/drawing/2014/main" id="{4C909E8D-5638-4143-BE51-7269847A1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456" y="3020924"/>
            <a:ext cx="702743" cy="702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tângulo 31">
            <a:extLst>
              <a:ext uri="{FF2B5EF4-FFF2-40B4-BE49-F238E27FC236}">
                <a16:creationId xmlns:a16="http://schemas.microsoft.com/office/drawing/2014/main" id="{2022B705-4598-4356-97FE-271E7EA4B6B9}"/>
              </a:ext>
            </a:extLst>
          </p:cNvPr>
          <p:cNvSpPr/>
          <p:nvPr/>
        </p:nvSpPr>
        <p:spPr>
          <a:xfrm>
            <a:off x="1044610" y="4622911"/>
            <a:ext cx="100161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Entendendo o perfil do cliente e a probabilidade do mesmo não efetuar novos pedidos, podemos 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direcionar comunicações e campanhas específicas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para 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promover engajamento 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do cliente na nossa plataforma, 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alavancando o número de pedidos e garantindo receita. </a:t>
            </a:r>
          </a:p>
          <a:p>
            <a:pPr lvl="0" algn="just">
              <a:defRPr/>
            </a:pPr>
            <a:endParaRPr lang="pt-BR" sz="1400" b="1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63B58B0-9578-4BB1-BAE2-613F99381B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7808" y="2512364"/>
            <a:ext cx="1448258" cy="161931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A56CB1D-A794-4E79-9B99-EB45C86BFA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8567" y="2922302"/>
            <a:ext cx="1086046" cy="78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491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2;p13">
            <a:extLst>
              <a:ext uri="{FF2B5EF4-FFF2-40B4-BE49-F238E27FC236}">
                <a16:creationId xmlns:a16="http://schemas.microsoft.com/office/drawing/2014/main" id="{7C7C1D6A-ED66-4886-B2D9-B1C6841EE1F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259381" y="4383155"/>
            <a:ext cx="2932619" cy="247484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Espaço Reservado para Número de Slide 4">
            <a:extLst>
              <a:ext uri="{FF2B5EF4-FFF2-40B4-BE49-F238E27FC236}">
                <a16:creationId xmlns:a16="http://schemas.microsoft.com/office/drawing/2014/main" id="{6FB72034-355D-49BB-87C1-9B091858F2F2}"/>
              </a:ext>
            </a:extLst>
          </p:cNvPr>
          <p:cNvSpPr txBox="1">
            <a:spLocks/>
          </p:cNvSpPr>
          <p:nvPr/>
        </p:nvSpPr>
        <p:spPr>
          <a:xfrm>
            <a:off x="11448110" y="355600"/>
            <a:ext cx="398450" cy="40946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FB8526-A7DF-44F1-A0A0-E2C9088E152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6ADBD9"/>
                </a:solidFill>
                <a:effectLst/>
                <a:uLnTx/>
                <a:uFillTx/>
                <a:latin typeface="Open Sans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9" name="Pentágono 8">
            <a:extLst>
              <a:ext uri="{FF2B5EF4-FFF2-40B4-BE49-F238E27FC236}">
                <a16:creationId xmlns:a16="http://schemas.microsoft.com/office/drawing/2014/main" id="{644FBE2D-7350-4B46-8585-E858DF5CAE69}"/>
              </a:ext>
            </a:extLst>
          </p:cNvPr>
          <p:cNvSpPr/>
          <p:nvPr/>
        </p:nvSpPr>
        <p:spPr>
          <a:xfrm>
            <a:off x="11529391" y="419377"/>
            <a:ext cx="274983" cy="251791"/>
          </a:xfrm>
          <a:prstGeom prst="pentagon">
            <a:avLst/>
          </a:prstGeom>
          <a:noFill/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A3734E6-4CA8-476F-9C12-5768A9143DA3}"/>
              </a:ext>
            </a:extLst>
          </p:cNvPr>
          <p:cNvSpPr txBox="1">
            <a:spLocks/>
          </p:cNvSpPr>
          <p:nvPr/>
        </p:nvSpPr>
        <p:spPr>
          <a:xfrm>
            <a:off x="705440" y="165600"/>
            <a:ext cx="6624736" cy="71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spcBef>
                <a:spcPct val="0"/>
              </a:spcBef>
              <a:buNone/>
              <a:defRPr sz="2400">
                <a:solidFill>
                  <a:srgbClr val="02BAB1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Business Case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C5C3340-3A5B-476B-928E-B11B0289C027}"/>
              </a:ext>
            </a:extLst>
          </p:cNvPr>
          <p:cNvSpPr txBox="1"/>
          <p:nvPr/>
        </p:nvSpPr>
        <p:spPr>
          <a:xfrm>
            <a:off x="705440" y="679113"/>
            <a:ext cx="9718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600" b="0" i="0" dirty="0">
                <a:solidFill>
                  <a:srgbClr val="333333"/>
                </a:solidFill>
                <a:effectLst/>
                <a:latin typeface="Open Sans" panose="020B0604020202020204"/>
              </a:rPr>
              <a:t>Como gerar valor para o </a:t>
            </a:r>
            <a:r>
              <a:rPr lang="pt-BR" sz="1600" b="0" i="0" dirty="0" err="1">
                <a:solidFill>
                  <a:srgbClr val="333333"/>
                </a:solidFill>
                <a:effectLst/>
                <a:latin typeface="Open Sans" panose="020B0604020202020204"/>
              </a:rPr>
              <a:t>Ifood</a:t>
            </a:r>
            <a:endParaRPr lang="pt-BR" sz="1600" b="0" i="0" dirty="0">
              <a:solidFill>
                <a:srgbClr val="333333"/>
              </a:solidFill>
              <a:effectLst/>
              <a:latin typeface="Open Sans" panose="020B0604020202020204"/>
            </a:endParaRPr>
          </a:p>
        </p:txBody>
      </p:sp>
      <p:pic>
        <p:nvPicPr>
          <p:cNvPr id="15" name="Picture 10" descr="Machine Learning Icon 2010152">
            <a:extLst>
              <a:ext uri="{FF2B5EF4-FFF2-40B4-BE49-F238E27FC236}">
                <a16:creationId xmlns:a16="http://schemas.microsoft.com/office/drawing/2014/main" id="{9FAE052B-8AD7-4009-B5A1-FE7FEA098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5" y="297667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tângulo 31">
            <a:extLst>
              <a:ext uri="{FF2B5EF4-FFF2-40B4-BE49-F238E27FC236}">
                <a16:creationId xmlns:a16="http://schemas.microsoft.com/office/drawing/2014/main" id="{2022B705-4598-4356-97FE-271E7EA4B6B9}"/>
              </a:ext>
            </a:extLst>
          </p:cNvPr>
          <p:cNvSpPr/>
          <p:nvPr/>
        </p:nvSpPr>
        <p:spPr>
          <a:xfrm>
            <a:off x="2269003" y="1228474"/>
            <a:ext cx="765399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pt-BR" sz="1600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Premissas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kumimoji="0" lang="pt-BR" sz="160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Target: clientes com status </a:t>
            </a:r>
            <a:r>
              <a:rPr kumimoji="0" lang="pt-BR" sz="1600" i="0" u="none" strike="noStrike" kern="120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churn</a:t>
            </a:r>
            <a:r>
              <a:rPr kumimoji="0" lang="pt-BR" sz="160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e inativo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kumimoji="0" lang="pt-BR" sz="160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Dados de segmentação de julho para prever resultado do mês de agosto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kumimoji="0" lang="pt-BR" sz="160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Dados de </a:t>
            </a:r>
            <a:r>
              <a:rPr kumimoji="0" lang="pt-BR" sz="1600" i="0" u="none" strike="noStrike" kern="120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push</a:t>
            </a:r>
            <a:r>
              <a:rPr kumimoji="0" lang="pt-BR" sz="160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kumimoji="0" lang="pt-BR" sz="1600" i="0" u="none" strike="noStrike" kern="120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session</a:t>
            </a:r>
            <a:r>
              <a:rPr kumimoji="0" lang="pt-BR" sz="160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das duas primeiras semanas de </a:t>
            </a:r>
            <a:r>
              <a:rPr kumimoji="0" lang="pt-BR" sz="1600" i="0" u="none" strike="noStrike" kern="120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ago</a:t>
            </a:r>
            <a:r>
              <a:rPr lang="pt-BR" sz="1600" dirty="0" err="1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sto</a:t>
            </a:r>
            <a:endParaRPr lang="pt-BR" sz="1600" dirty="0">
              <a:solidFill>
                <a:srgbClr val="434343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kumimoji="0" lang="pt-BR" sz="160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Dado o cenário </a:t>
            </a:r>
            <a:r>
              <a:rPr lang="pt-BR" sz="1600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de pandemia decidimos fazer a classificação quinzenal</a:t>
            </a:r>
            <a:endParaRPr kumimoji="0" lang="pt-BR" sz="1600" i="0" u="none" strike="noStrike" kern="120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CBBC7AE-FB8B-407F-86BD-FAEA51D3EB65}"/>
              </a:ext>
            </a:extLst>
          </p:cNvPr>
          <p:cNvSpPr/>
          <p:nvPr/>
        </p:nvSpPr>
        <p:spPr>
          <a:xfrm>
            <a:off x="1261553" y="2938583"/>
            <a:ext cx="1805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pt-BR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Segmentation</a:t>
            </a:r>
            <a:endParaRPr kumimoji="0" lang="pt-BR" sz="1600" b="1" i="0" u="none" strike="noStrike" kern="120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21814D1-2494-4B07-A6AA-0D920B7665EA}"/>
              </a:ext>
            </a:extLst>
          </p:cNvPr>
          <p:cNvSpPr/>
          <p:nvPr/>
        </p:nvSpPr>
        <p:spPr>
          <a:xfrm>
            <a:off x="5929471" y="2938583"/>
            <a:ext cx="1805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pt-BR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Push</a:t>
            </a:r>
            <a:endParaRPr kumimoji="0" lang="pt-BR" sz="1600" b="1" i="0" u="none" strike="noStrike" kern="120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E57F2A1-DB47-4BAC-998C-4EADC13C856B}"/>
              </a:ext>
            </a:extLst>
          </p:cNvPr>
          <p:cNvSpPr/>
          <p:nvPr/>
        </p:nvSpPr>
        <p:spPr>
          <a:xfrm>
            <a:off x="9098475" y="2938583"/>
            <a:ext cx="1805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pt-BR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Session</a:t>
            </a:r>
            <a:endParaRPr kumimoji="0" lang="pt-BR" sz="1600" b="1" i="0" u="none" strike="noStrike" kern="120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465F763-8A35-41DA-B1BE-860DD1823C25}"/>
              </a:ext>
            </a:extLst>
          </p:cNvPr>
          <p:cNvSpPr txBox="1"/>
          <p:nvPr/>
        </p:nvSpPr>
        <p:spPr>
          <a:xfrm>
            <a:off x="42865" y="3455765"/>
            <a:ext cx="289651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latin typeface="Open Sans" panose="020B0604020202020204"/>
              </a:rPr>
              <a:t>orders_last_91d </a:t>
            </a:r>
          </a:p>
          <a:p>
            <a:r>
              <a:rPr lang="pt-BR" sz="1600" dirty="0" err="1">
                <a:latin typeface="Open Sans" panose="020B0604020202020204"/>
              </a:rPr>
              <a:t>qtt_orders_last_year</a:t>
            </a:r>
            <a:r>
              <a:rPr lang="pt-BR" sz="1600" dirty="0">
                <a:latin typeface="Open Sans" panose="020B0604020202020204"/>
              </a:rPr>
              <a:t> </a:t>
            </a:r>
          </a:p>
          <a:p>
            <a:r>
              <a:rPr lang="pt-BR" sz="1600" dirty="0" err="1">
                <a:latin typeface="Open Sans" panose="020B0604020202020204"/>
              </a:rPr>
              <a:t>qtt_valid_orders</a:t>
            </a:r>
            <a:endParaRPr lang="pt-BR" sz="1600" dirty="0">
              <a:latin typeface="Open Sans" panose="020B0604020202020204"/>
            </a:endParaRPr>
          </a:p>
          <a:p>
            <a:r>
              <a:rPr lang="pt-BR" sz="1600" dirty="0" err="1">
                <a:latin typeface="Open Sans" panose="020B0604020202020204"/>
              </a:rPr>
              <a:t>qtt_invalid_orders</a:t>
            </a:r>
            <a:endParaRPr lang="pt-BR" sz="1600" dirty="0">
              <a:latin typeface="Open Sans" panose="020B0604020202020204"/>
            </a:endParaRPr>
          </a:p>
          <a:p>
            <a:r>
              <a:rPr lang="pt-BR" sz="1600" dirty="0" err="1">
                <a:latin typeface="Open Sans" panose="020B0604020202020204"/>
              </a:rPr>
              <a:t>recency_months</a:t>
            </a:r>
            <a:endParaRPr lang="pt-BR" sz="1600" dirty="0">
              <a:latin typeface="Open Sans" panose="020B0604020202020204"/>
            </a:endParaRPr>
          </a:p>
          <a:p>
            <a:r>
              <a:rPr lang="pt-BR" sz="1600" dirty="0" err="1">
                <a:latin typeface="Open Sans" panose="020B0604020202020204"/>
              </a:rPr>
              <a:t>customer_lifetime_days</a:t>
            </a:r>
            <a:endParaRPr lang="pt-BR" sz="1600" dirty="0">
              <a:latin typeface="Open Sans" panose="020B0604020202020204"/>
            </a:endParaRPr>
          </a:p>
          <a:p>
            <a:r>
              <a:rPr lang="pt-BR" sz="1600" dirty="0" err="1">
                <a:latin typeface="Open Sans" panose="020B0604020202020204"/>
              </a:rPr>
              <a:t>customer_lifetime_months</a:t>
            </a:r>
            <a:endParaRPr lang="pt-BR" sz="1600" dirty="0">
              <a:latin typeface="Open Sans" panose="020B0604020202020204"/>
            </a:endParaRPr>
          </a:p>
          <a:p>
            <a:r>
              <a:rPr lang="pt-BR" sz="1600" dirty="0" err="1">
                <a:latin typeface="Open Sans" panose="020B0604020202020204"/>
              </a:rPr>
              <a:t>was_mub_last_month</a:t>
            </a:r>
            <a:r>
              <a:rPr lang="pt-BR" sz="1600" dirty="0">
                <a:latin typeface="Open Sans" panose="020B0604020202020204"/>
              </a:rPr>
              <a:t> 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6A6362F-2944-45A1-B799-B18547BDB9BF}"/>
              </a:ext>
            </a:extLst>
          </p:cNvPr>
          <p:cNvSpPr txBox="1"/>
          <p:nvPr/>
        </p:nvSpPr>
        <p:spPr>
          <a:xfrm>
            <a:off x="6126617" y="3468470"/>
            <a:ext cx="18882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Open Sans" panose="020B0604020202020204"/>
              </a:rPr>
              <a:t>total_send</a:t>
            </a:r>
            <a:endParaRPr lang="en-US" sz="1600" dirty="0">
              <a:latin typeface="Open Sans" panose="020B0604020202020204"/>
            </a:endParaRPr>
          </a:p>
          <a:p>
            <a:r>
              <a:rPr lang="en-US" sz="1600" dirty="0" err="1">
                <a:latin typeface="Open Sans" panose="020B0604020202020204"/>
              </a:rPr>
              <a:t>total_received</a:t>
            </a:r>
            <a:endParaRPr lang="en-US" sz="1600" dirty="0">
              <a:latin typeface="Open Sans" panose="020B0604020202020204"/>
            </a:endParaRPr>
          </a:p>
          <a:p>
            <a:r>
              <a:rPr lang="en-US" sz="1600" dirty="0" err="1">
                <a:latin typeface="Open Sans" panose="020B0604020202020204"/>
              </a:rPr>
              <a:t>total_bounce</a:t>
            </a:r>
            <a:endParaRPr lang="en-US" sz="1600" dirty="0">
              <a:latin typeface="Open Sans" panose="020B0604020202020204"/>
            </a:endParaRPr>
          </a:p>
          <a:p>
            <a:r>
              <a:rPr lang="en-US" sz="1600" dirty="0" err="1">
                <a:latin typeface="Open Sans" panose="020B0604020202020204"/>
              </a:rPr>
              <a:t>total_click</a:t>
            </a:r>
            <a:endParaRPr lang="pt-BR" sz="1600" dirty="0">
              <a:latin typeface="Open Sans" panose="020B0604020202020204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2B07840D-500F-44B8-ACAE-A02BC2624504}"/>
              </a:ext>
            </a:extLst>
          </p:cNvPr>
          <p:cNvSpPr txBox="1"/>
          <p:nvPr/>
        </p:nvSpPr>
        <p:spPr>
          <a:xfrm>
            <a:off x="8929976" y="3367492"/>
            <a:ext cx="307827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latin typeface="Open Sans" panose="020B0604020202020204"/>
              </a:rPr>
              <a:t>sum_event_open</a:t>
            </a:r>
            <a:endParaRPr lang="pt-BR" sz="1600" dirty="0">
              <a:latin typeface="Open Sans" panose="020B0604020202020204"/>
            </a:endParaRPr>
          </a:p>
          <a:p>
            <a:r>
              <a:rPr lang="pt-BR" sz="1600" dirty="0" err="1">
                <a:latin typeface="Open Sans" panose="020B0604020202020204"/>
              </a:rPr>
              <a:t>sum_view_restaurant_screen</a:t>
            </a:r>
            <a:endParaRPr lang="pt-BR" sz="1600" dirty="0">
              <a:latin typeface="Open Sans" panose="020B0604020202020204"/>
            </a:endParaRPr>
          </a:p>
          <a:p>
            <a:r>
              <a:rPr lang="pt-BR" sz="1600" dirty="0" err="1">
                <a:latin typeface="Open Sans" panose="020B0604020202020204"/>
              </a:rPr>
              <a:t>sum_view_dish_screen</a:t>
            </a:r>
            <a:endParaRPr lang="pt-BR" sz="1600" dirty="0">
              <a:latin typeface="Open Sans" panose="020B0604020202020204"/>
            </a:endParaRPr>
          </a:p>
          <a:p>
            <a:r>
              <a:rPr lang="pt-BR" sz="1600" dirty="0" err="1">
                <a:latin typeface="Open Sans" panose="020B0604020202020204"/>
              </a:rPr>
              <a:t>sum_click_add_item</a:t>
            </a:r>
            <a:endParaRPr lang="pt-BR" sz="1600" dirty="0">
              <a:latin typeface="Open Sans" panose="020B0604020202020204"/>
            </a:endParaRPr>
          </a:p>
          <a:p>
            <a:r>
              <a:rPr lang="pt-BR" sz="1600" dirty="0" err="1">
                <a:latin typeface="Open Sans" panose="020B0604020202020204"/>
              </a:rPr>
              <a:t>sum_view_checkout</a:t>
            </a:r>
            <a:endParaRPr lang="pt-BR" sz="1600" dirty="0">
              <a:latin typeface="Open Sans" panose="020B0604020202020204"/>
            </a:endParaRPr>
          </a:p>
          <a:p>
            <a:r>
              <a:rPr lang="pt-BR" sz="1600" dirty="0" err="1">
                <a:latin typeface="Open Sans" panose="020B0604020202020204"/>
              </a:rPr>
              <a:t>sum_callback_purchase</a:t>
            </a:r>
            <a:endParaRPr lang="pt-BR" sz="1600" dirty="0">
              <a:latin typeface="Open Sans" panose="020B0604020202020204"/>
            </a:endParaRPr>
          </a:p>
          <a:p>
            <a:r>
              <a:rPr lang="pt-BR" sz="1600" dirty="0" err="1">
                <a:latin typeface="Open Sans" panose="020B0604020202020204"/>
              </a:rPr>
              <a:t>order_session_quantity</a:t>
            </a:r>
            <a:endParaRPr lang="pt-BR" sz="1600" dirty="0">
              <a:latin typeface="Open Sans" panose="020B0604020202020204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6EBA73BD-AC95-4D5F-9B02-34953CF6E5F8}"/>
              </a:ext>
            </a:extLst>
          </p:cNvPr>
          <p:cNvSpPr txBox="1"/>
          <p:nvPr/>
        </p:nvSpPr>
        <p:spPr>
          <a:xfrm>
            <a:off x="2906979" y="3468470"/>
            <a:ext cx="241794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Open Sans" panose="020B0604020202020204"/>
              </a:rPr>
              <a:t>buyer_last_91d</a:t>
            </a:r>
          </a:p>
          <a:p>
            <a:r>
              <a:rPr lang="en-US" sz="1600" dirty="0" err="1">
                <a:latin typeface="Open Sans" panose="020B0604020202020204"/>
              </a:rPr>
              <a:t>rfv_score</a:t>
            </a:r>
            <a:endParaRPr lang="en-US" sz="1600" dirty="0">
              <a:latin typeface="Open Sans" panose="020B0604020202020204"/>
            </a:endParaRPr>
          </a:p>
          <a:p>
            <a:r>
              <a:rPr lang="en-US" sz="1600" dirty="0" err="1">
                <a:latin typeface="Open Sans" panose="020B0604020202020204"/>
              </a:rPr>
              <a:t>recency_days</a:t>
            </a:r>
            <a:endParaRPr lang="en-US" sz="1600" dirty="0">
              <a:latin typeface="Open Sans" panose="020B0604020202020204"/>
            </a:endParaRPr>
          </a:p>
          <a:p>
            <a:r>
              <a:rPr lang="en-US" sz="1600" dirty="0">
                <a:latin typeface="Open Sans" panose="020B0604020202020204"/>
              </a:rPr>
              <a:t>freq_last_91d</a:t>
            </a:r>
          </a:p>
          <a:p>
            <a:r>
              <a:rPr lang="en-US" sz="1600" dirty="0" err="1">
                <a:latin typeface="Open Sans" panose="020B0604020202020204"/>
              </a:rPr>
              <a:t>maturity_orders</a:t>
            </a:r>
            <a:endParaRPr lang="en-US" sz="1600" dirty="0">
              <a:latin typeface="Open Sans" panose="020B0604020202020204"/>
            </a:endParaRPr>
          </a:p>
          <a:p>
            <a:r>
              <a:rPr lang="en-US" sz="1600" dirty="0" err="1">
                <a:latin typeface="Open Sans" panose="020B0604020202020204"/>
              </a:rPr>
              <a:t>merchant_variety</a:t>
            </a:r>
            <a:endParaRPr lang="en-US" sz="1600" dirty="0">
              <a:latin typeface="Open Sans" panose="020B0604020202020204"/>
            </a:endParaRPr>
          </a:p>
          <a:p>
            <a:r>
              <a:rPr lang="en-US" sz="1600" dirty="0" err="1">
                <a:latin typeface="Open Sans" panose="020B0604020202020204"/>
              </a:rPr>
              <a:t>merchant_offer</a:t>
            </a:r>
            <a:endParaRPr lang="en-US" sz="1600" dirty="0">
              <a:latin typeface="Open Sans" panose="020B0604020202020204"/>
            </a:endParaRPr>
          </a:p>
          <a:p>
            <a:r>
              <a:rPr lang="en-US" sz="1600" dirty="0" err="1">
                <a:latin typeface="Open Sans" panose="020B0604020202020204"/>
              </a:rPr>
              <a:t>label_last_month</a:t>
            </a:r>
            <a:endParaRPr lang="en-US" sz="1600" dirty="0">
              <a:latin typeface="Open Sans" panose="020B0604020202020204"/>
            </a:endParaRPr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705193FF-F7B5-41BC-96EC-A19E657ACF54}"/>
              </a:ext>
            </a:extLst>
          </p:cNvPr>
          <p:cNvCxnSpPr>
            <a:cxnSpLocks/>
          </p:cNvCxnSpPr>
          <p:nvPr/>
        </p:nvCxnSpPr>
        <p:spPr>
          <a:xfrm>
            <a:off x="5324919" y="2938583"/>
            <a:ext cx="0" cy="31365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A0601B63-3031-4B98-9DB7-AF9851CDAD62}"/>
              </a:ext>
            </a:extLst>
          </p:cNvPr>
          <p:cNvCxnSpPr>
            <a:cxnSpLocks/>
          </p:cNvCxnSpPr>
          <p:nvPr/>
        </p:nvCxnSpPr>
        <p:spPr>
          <a:xfrm>
            <a:off x="8395883" y="2938583"/>
            <a:ext cx="0" cy="304885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73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2;p13">
            <a:extLst>
              <a:ext uri="{FF2B5EF4-FFF2-40B4-BE49-F238E27FC236}">
                <a16:creationId xmlns:a16="http://schemas.microsoft.com/office/drawing/2014/main" id="{7C7C1D6A-ED66-4886-B2D9-B1C6841EE1F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259381" y="4383155"/>
            <a:ext cx="2932619" cy="247484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Espaço Reservado para Número de Slide 4">
            <a:extLst>
              <a:ext uri="{FF2B5EF4-FFF2-40B4-BE49-F238E27FC236}">
                <a16:creationId xmlns:a16="http://schemas.microsoft.com/office/drawing/2014/main" id="{6FB72034-355D-49BB-87C1-9B091858F2F2}"/>
              </a:ext>
            </a:extLst>
          </p:cNvPr>
          <p:cNvSpPr txBox="1">
            <a:spLocks/>
          </p:cNvSpPr>
          <p:nvPr/>
        </p:nvSpPr>
        <p:spPr>
          <a:xfrm>
            <a:off x="11448110" y="355600"/>
            <a:ext cx="398450" cy="40946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FB8526-A7DF-44F1-A0A0-E2C9088E152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6ADBD9"/>
                </a:solidFill>
                <a:effectLst/>
                <a:uLnTx/>
                <a:uFillTx/>
                <a:latin typeface="Open Sans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9" name="Pentágono 8">
            <a:extLst>
              <a:ext uri="{FF2B5EF4-FFF2-40B4-BE49-F238E27FC236}">
                <a16:creationId xmlns:a16="http://schemas.microsoft.com/office/drawing/2014/main" id="{644FBE2D-7350-4B46-8585-E858DF5CAE69}"/>
              </a:ext>
            </a:extLst>
          </p:cNvPr>
          <p:cNvSpPr/>
          <p:nvPr/>
        </p:nvSpPr>
        <p:spPr>
          <a:xfrm>
            <a:off x="11529391" y="419377"/>
            <a:ext cx="274983" cy="251791"/>
          </a:xfrm>
          <a:prstGeom prst="pentagon">
            <a:avLst/>
          </a:prstGeom>
          <a:noFill/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A3734E6-4CA8-476F-9C12-5768A9143DA3}"/>
              </a:ext>
            </a:extLst>
          </p:cNvPr>
          <p:cNvSpPr txBox="1">
            <a:spLocks/>
          </p:cNvSpPr>
          <p:nvPr/>
        </p:nvSpPr>
        <p:spPr>
          <a:xfrm>
            <a:off x="705440" y="165600"/>
            <a:ext cx="6624736" cy="71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spcBef>
                <a:spcPct val="0"/>
              </a:spcBef>
              <a:buNone/>
              <a:defRPr sz="2400">
                <a:solidFill>
                  <a:srgbClr val="02BAB1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Business Case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C5C3340-3A5B-476B-928E-B11B0289C027}"/>
              </a:ext>
            </a:extLst>
          </p:cNvPr>
          <p:cNvSpPr txBox="1"/>
          <p:nvPr/>
        </p:nvSpPr>
        <p:spPr>
          <a:xfrm>
            <a:off x="705440" y="679113"/>
            <a:ext cx="9718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600" b="0" i="0" dirty="0">
                <a:solidFill>
                  <a:srgbClr val="333333"/>
                </a:solidFill>
                <a:effectLst/>
                <a:latin typeface="Open Sans" panose="020B0604020202020204"/>
              </a:rPr>
              <a:t>Prevendo o </a:t>
            </a:r>
            <a:r>
              <a:rPr lang="pt-BR" sz="1600" b="0" i="0" dirty="0" err="1">
                <a:solidFill>
                  <a:srgbClr val="333333"/>
                </a:solidFill>
                <a:effectLst/>
                <a:latin typeface="Open Sans" panose="020B0604020202020204"/>
              </a:rPr>
              <a:t>Churn</a:t>
            </a:r>
            <a:endParaRPr lang="pt-BR" sz="1600" b="0" i="0" dirty="0">
              <a:solidFill>
                <a:srgbClr val="333333"/>
              </a:solidFill>
              <a:effectLst/>
              <a:latin typeface="Open Sans" panose="020B0604020202020204"/>
            </a:endParaRPr>
          </a:p>
        </p:txBody>
      </p:sp>
      <p:pic>
        <p:nvPicPr>
          <p:cNvPr id="15" name="Picture 10" descr="Machine Learning Icon 2010152">
            <a:extLst>
              <a:ext uri="{FF2B5EF4-FFF2-40B4-BE49-F238E27FC236}">
                <a16:creationId xmlns:a16="http://schemas.microsoft.com/office/drawing/2014/main" id="{9FAE052B-8AD7-4009-B5A1-FE7FEA098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5" y="297667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A9D44560-8ADA-488F-927D-7DD23F55DF22}"/>
              </a:ext>
            </a:extLst>
          </p:cNvPr>
          <p:cNvSpPr txBox="1"/>
          <p:nvPr/>
        </p:nvSpPr>
        <p:spPr>
          <a:xfrm>
            <a:off x="199954" y="1297388"/>
            <a:ext cx="252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dirty="0">
                <a:solidFill>
                  <a:srgbClr val="6ADBD9"/>
                </a:solidFill>
                <a:latin typeface="Open Sans" panose="020B0604020202020204"/>
              </a:rPr>
              <a:t>5 modelos testados</a:t>
            </a:r>
          </a:p>
        </p:txBody>
      </p:sp>
      <p:pic>
        <p:nvPicPr>
          <p:cNvPr id="6" name="Imagem 5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93252BE9-2B09-4E10-A31D-68561F20ACB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5" t="5062" r="50024" b="85087"/>
          <a:stretch/>
        </p:blipFill>
        <p:spPr>
          <a:xfrm>
            <a:off x="199955" y="2286174"/>
            <a:ext cx="3098806" cy="1749195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96E30668-039A-4643-BE23-BC366B0CB835}"/>
              </a:ext>
            </a:extLst>
          </p:cNvPr>
          <p:cNvSpPr txBox="1"/>
          <p:nvPr/>
        </p:nvSpPr>
        <p:spPr>
          <a:xfrm>
            <a:off x="199954" y="1839617"/>
            <a:ext cx="252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dirty="0">
                <a:solidFill>
                  <a:srgbClr val="333333"/>
                </a:solidFill>
                <a:latin typeface="Open Sans" panose="020B0604020202020204"/>
              </a:rPr>
              <a:t>Regressão logística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FDA0C02-C7BF-466A-9A2C-2645882CEF52}"/>
              </a:ext>
            </a:extLst>
          </p:cNvPr>
          <p:cNvSpPr txBox="1"/>
          <p:nvPr/>
        </p:nvSpPr>
        <p:spPr>
          <a:xfrm>
            <a:off x="3656652" y="1839617"/>
            <a:ext cx="252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dirty="0">
                <a:solidFill>
                  <a:srgbClr val="333333"/>
                </a:solidFill>
                <a:latin typeface="Open Sans" panose="020B0604020202020204"/>
              </a:rPr>
              <a:t>Árvore de decisão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CA5861F-4542-440B-A201-57CC76516FD5}"/>
              </a:ext>
            </a:extLst>
          </p:cNvPr>
          <p:cNvSpPr txBox="1"/>
          <p:nvPr/>
        </p:nvSpPr>
        <p:spPr>
          <a:xfrm>
            <a:off x="7540590" y="1839617"/>
            <a:ext cx="252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dirty="0" err="1">
                <a:solidFill>
                  <a:srgbClr val="333333"/>
                </a:solidFill>
                <a:latin typeface="Open Sans" panose="020B0604020202020204"/>
              </a:rPr>
              <a:t>Random</a:t>
            </a:r>
            <a:r>
              <a:rPr lang="pt-BR" sz="2000" b="1" dirty="0">
                <a:solidFill>
                  <a:srgbClr val="333333"/>
                </a:solidFill>
                <a:latin typeface="Open Sans" panose="020B0604020202020204"/>
              </a:rPr>
              <a:t> Forest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1AAC9C0-E848-4F32-BA91-36773491D7A5}"/>
              </a:ext>
            </a:extLst>
          </p:cNvPr>
          <p:cNvSpPr txBox="1"/>
          <p:nvPr/>
        </p:nvSpPr>
        <p:spPr>
          <a:xfrm>
            <a:off x="199954" y="4585416"/>
            <a:ext cx="252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dirty="0" err="1">
                <a:solidFill>
                  <a:srgbClr val="333333"/>
                </a:solidFill>
                <a:latin typeface="Open Sans" panose="020B0604020202020204"/>
              </a:rPr>
              <a:t>Gradient</a:t>
            </a:r>
            <a:r>
              <a:rPr lang="pt-BR" sz="2000" b="1" dirty="0">
                <a:solidFill>
                  <a:srgbClr val="333333"/>
                </a:solidFill>
                <a:latin typeface="Open Sans" panose="020B0604020202020204"/>
              </a:rPr>
              <a:t> </a:t>
            </a:r>
            <a:r>
              <a:rPr lang="pt-BR" sz="2000" b="1" dirty="0" err="1">
                <a:solidFill>
                  <a:srgbClr val="333333"/>
                </a:solidFill>
                <a:latin typeface="Open Sans" panose="020B0604020202020204"/>
              </a:rPr>
              <a:t>Boosting</a:t>
            </a:r>
            <a:endParaRPr lang="pt-BR" sz="2000" b="1" dirty="0">
              <a:solidFill>
                <a:srgbClr val="333333"/>
              </a:solidFill>
              <a:latin typeface="Open Sans" panose="020B0604020202020204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6116751-F687-4546-AA4E-6E20F9806711}"/>
              </a:ext>
            </a:extLst>
          </p:cNvPr>
          <p:cNvSpPr txBox="1"/>
          <p:nvPr/>
        </p:nvSpPr>
        <p:spPr>
          <a:xfrm>
            <a:off x="3729697" y="4585416"/>
            <a:ext cx="252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dirty="0">
                <a:solidFill>
                  <a:srgbClr val="333333"/>
                </a:solidFill>
                <a:latin typeface="Open Sans" panose="020B0604020202020204"/>
              </a:rPr>
              <a:t>Redes Neurais</a:t>
            </a:r>
          </a:p>
        </p:txBody>
      </p:sp>
      <p:pic>
        <p:nvPicPr>
          <p:cNvPr id="30" name="Imagem 29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DFE89F52-D12B-4BD4-991B-1B538EA37D2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9" t="27022" r="49300" b="64154"/>
          <a:stretch/>
        </p:blipFill>
        <p:spPr>
          <a:xfrm>
            <a:off x="3944316" y="2377330"/>
            <a:ext cx="3098806" cy="1566883"/>
          </a:xfrm>
          <a:prstGeom prst="rect">
            <a:avLst/>
          </a:prstGeom>
        </p:spPr>
      </p:pic>
      <p:pic>
        <p:nvPicPr>
          <p:cNvPr id="31" name="Imagem 30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7F34A860-FBE3-4FFE-AB43-52539B8C351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0" t="48551" r="50249" b="42625"/>
          <a:stretch/>
        </p:blipFill>
        <p:spPr>
          <a:xfrm>
            <a:off x="7664945" y="2377330"/>
            <a:ext cx="3098806" cy="1566883"/>
          </a:xfrm>
          <a:prstGeom prst="rect">
            <a:avLst/>
          </a:prstGeom>
        </p:spPr>
      </p:pic>
      <p:pic>
        <p:nvPicPr>
          <p:cNvPr id="32" name="Imagem 31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4B99016A-0C2E-421C-8AB8-44F75061124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6" t="70071" r="50883" b="21105"/>
          <a:stretch/>
        </p:blipFill>
        <p:spPr>
          <a:xfrm>
            <a:off x="270695" y="5042824"/>
            <a:ext cx="3098806" cy="1566883"/>
          </a:xfrm>
          <a:prstGeom prst="rect">
            <a:avLst/>
          </a:prstGeom>
        </p:spPr>
      </p:pic>
      <p:pic>
        <p:nvPicPr>
          <p:cNvPr id="35" name="Imagem 34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D0C141F8-B927-46D1-9916-33B27EA911A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4" t="90395" r="50665" b="781"/>
          <a:stretch/>
        </p:blipFill>
        <p:spPr>
          <a:xfrm>
            <a:off x="3656652" y="5042824"/>
            <a:ext cx="3098806" cy="1566883"/>
          </a:xfrm>
          <a:prstGeom prst="rect">
            <a:avLst/>
          </a:prstGeom>
        </p:spPr>
      </p:pic>
      <p:sp>
        <p:nvSpPr>
          <p:cNvPr id="10" name="Elipse 9">
            <a:extLst>
              <a:ext uri="{FF2B5EF4-FFF2-40B4-BE49-F238E27FC236}">
                <a16:creationId xmlns:a16="http://schemas.microsoft.com/office/drawing/2014/main" id="{6B6C1231-E5B7-49F7-89FD-5E0F6A70BE9E}"/>
              </a:ext>
            </a:extLst>
          </p:cNvPr>
          <p:cNvSpPr/>
          <p:nvPr/>
        </p:nvSpPr>
        <p:spPr>
          <a:xfrm>
            <a:off x="2404997" y="3429000"/>
            <a:ext cx="917496" cy="338554"/>
          </a:xfrm>
          <a:prstGeom prst="ellipse">
            <a:avLst/>
          </a:prstGeom>
          <a:noFill/>
          <a:ln w="38100"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6EDAAB83-3CB1-4206-8761-98B5BF98B47C}"/>
              </a:ext>
            </a:extLst>
          </p:cNvPr>
          <p:cNvSpPr/>
          <p:nvPr/>
        </p:nvSpPr>
        <p:spPr>
          <a:xfrm>
            <a:off x="9846255" y="3296609"/>
            <a:ext cx="917496" cy="338554"/>
          </a:xfrm>
          <a:prstGeom prst="ellipse">
            <a:avLst/>
          </a:prstGeom>
          <a:noFill/>
          <a:ln w="38100"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F15B41E-8C2A-4619-A663-890CEE30B611}"/>
              </a:ext>
            </a:extLst>
          </p:cNvPr>
          <p:cNvSpPr txBox="1"/>
          <p:nvPr/>
        </p:nvSpPr>
        <p:spPr>
          <a:xfrm>
            <a:off x="3658740" y="1841705"/>
            <a:ext cx="252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dirty="0">
                <a:solidFill>
                  <a:schemeClr val="bg1">
                    <a:lumMod val="85000"/>
                  </a:schemeClr>
                </a:solidFill>
                <a:latin typeface="Open Sans" panose="020B0604020202020204"/>
              </a:rPr>
              <a:t>Árvore de decisão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896CAC5D-AF1C-489D-9A83-238EC4C636AB}"/>
              </a:ext>
            </a:extLst>
          </p:cNvPr>
          <p:cNvSpPr txBox="1"/>
          <p:nvPr/>
        </p:nvSpPr>
        <p:spPr>
          <a:xfrm>
            <a:off x="202042" y="4587504"/>
            <a:ext cx="252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dirty="0" err="1">
                <a:solidFill>
                  <a:schemeClr val="bg1">
                    <a:lumMod val="85000"/>
                  </a:schemeClr>
                </a:solidFill>
                <a:latin typeface="Open Sans" panose="020B0604020202020204"/>
              </a:rPr>
              <a:t>Gradient</a:t>
            </a:r>
            <a:r>
              <a:rPr lang="pt-BR" sz="2000" b="1" dirty="0">
                <a:solidFill>
                  <a:schemeClr val="bg1">
                    <a:lumMod val="85000"/>
                  </a:schemeClr>
                </a:solidFill>
                <a:latin typeface="Open Sans" panose="020B0604020202020204"/>
              </a:rPr>
              <a:t> </a:t>
            </a:r>
            <a:r>
              <a:rPr lang="pt-BR" sz="2000" b="1" dirty="0" err="1">
                <a:solidFill>
                  <a:schemeClr val="bg1">
                    <a:lumMod val="85000"/>
                  </a:schemeClr>
                </a:solidFill>
                <a:latin typeface="Open Sans" panose="020B0604020202020204"/>
              </a:rPr>
              <a:t>Boosting</a:t>
            </a:r>
            <a:endParaRPr lang="pt-BR" sz="2000" b="1" dirty="0">
              <a:solidFill>
                <a:schemeClr val="bg1">
                  <a:lumMod val="85000"/>
                </a:schemeClr>
              </a:solidFill>
              <a:latin typeface="Open Sans" panose="020B0604020202020204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77CDCA1F-F11D-4B37-B638-6901E484A952}"/>
              </a:ext>
            </a:extLst>
          </p:cNvPr>
          <p:cNvSpPr txBox="1"/>
          <p:nvPr/>
        </p:nvSpPr>
        <p:spPr>
          <a:xfrm>
            <a:off x="3731785" y="4587504"/>
            <a:ext cx="252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dirty="0">
                <a:solidFill>
                  <a:schemeClr val="bg1">
                    <a:lumMod val="85000"/>
                  </a:schemeClr>
                </a:solidFill>
                <a:latin typeface="Open Sans" panose="020B0604020202020204"/>
              </a:rPr>
              <a:t>Redes Neurais</a:t>
            </a:r>
          </a:p>
        </p:txBody>
      </p:sp>
    </p:spTree>
    <p:extLst>
      <p:ext uri="{BB962C8B-B14F-4D97-AF65-F5344CB8AC3E}">
        <p14:creationId xmlns:p14="http://schemas.microsoft.com/office/powerpoint/2010/main" val="155749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6" grpId="0" animBg="1"/>
      <p:bldP spid="39" grpId="0"/>
      <p:bldP spid="40" grpId="0"/>
      <p:bldP spid="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Número de Slide 4">
            <a:extLst>
              <a:ext uri="{FF2B5EF4-FFF2-40B4-BE49-F238E27FC236}">
                <a16:creationId xmlns:a16="http://schemas.microsoft.com/office/drawing/2014/main" id="{6FB72034-355D-49BB-87C1-9B091858F2F2}"/>
              </a:ext>
            </a:extLst>
          </p:cNvPr>
          <p:cNvSpPr txBox="1">
            <a:spLocks/>
          </p:cNvSpPr>
          <p:nvPr/>
        </p:nvSpPr>
        <p:spPr>
          <a:xfrm>
            <a:off x="11448110" y="355600"/>
            <a:ext cx="398450" cy="40946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FB8526-A7DF-44F1-A0A0-E2C9088E152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6ADBD9"/>
                </a:solidFill>
                <a:effectLst/>
                <a:uLnTx/>
                <a:uFillTx/>
                <a:latin typeface="Open Sans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9" name="Pentágono 8">
            <a:extLst>
              <a:ext uri="{FF2B5EF4-FFF2-40B4-BE49-F238E27FC236}">
                <a16:creationId xmlns:a16="http://schemas.microsoft.com/office/drawing/2014/main" id="{644FBE2D-7350-4B46-8585-E858DF5CAE69}"/>
              </a:ext>
            </a:extLst>
          </p:cNvPr>
          <p:cNvSpPr/>
          <p:nvPr/>
        </p:nvSpPr>
        <p:spPr>
          <a:xfrm>
            <a:off x="11529391" y="419377"/>
            <a:ext cx="274983" cy="251791"/>
          </a:xfrm>
          <a:prstGeom prst="pentagon">
            <a:avLst/>
          </a:prstGeom>
          <a:noFill/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A3734E6-4CA8-476F-9C12-5768A9143DA3}"/>
              </a:ext>
            </a:extLst>
          </p:cNvPr>
          <p:cNvSpPr txBox="1">
            <a:spLocks/>
          </p:cNvSpPr>
          <p:nvPr/>
        </p:nvSpPr>
        <p:spPr>
          <a:xfrm>
            <a:off x="705440" y="165600"/>
            <a:ext cx="6624736" cy="71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spcBef>
                <a:spcPct val="0"/>
              </a:spcBef>
              <a:buNone/>
              <a:defRPr sz="2400">
                <a:solidFill>
                  <a:srgbClr val="02BAB1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Business Case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C5C3340-3A5B-476B-928E-B11B0289C027}"/>
              </a:ext>
            </a:extLst>
          </p:cNvPr>
          <p:cNvSpPr txBox="1"/>
          <p:nvPr/>
        </p:nvSpPr>
        <p:spPr>
          <a:xfrm>
            <a:off x="705440" y="679113"/>
            <a:ext cx="9718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600" b="0" i="0" dirty="0">
                <a:solidFill>
                  <a:srgbClr val="333333"/>
                </a:solidFill>
                <a:effectLst/>
                <a:latin typeface="Open Sans" panose="020B0604020202020204"/>
              </a:rPr>
              <a:t>Prevendo o </a:t>
            </a:r>
            <a:r>
              <a:rPr lang="pt-BR" sz="1600" b="0" i="0" dirty="0" err="1">
                <a:solidFill>
                  <a:srgbClr val="333333"/>
                </a:solidFill>
                <a:effectLst/>
                <a:latin typeface="Open Sans" panose="020B0604020202020204"/>
              </a:rPr>
              <a:t>Churn</a:t>
            </a:r>
            <a:endParaRPr lang="pt-BR" sz="1600" b="0" i="0" dirty="0">
              <a:solidFill>
                <a:srgbClr val="333333"/>
              </a:solidFill>
              <a:effectLst/>
              <a:latin typeface="Open Sans" panose="020B0604020202020204"/>
            </a:endParaRPr>
          </a:p>
        </p:txBody>
      </p:sp>
      <p:pic>
        <p:nvPicPr>
          <p:cNvPr id="15" name="Picture 10" descr="Machine Learning Icon 2010152">
            <a:extLst>
              <a:ext uri="{FF2B5EF4-FFF2-40B4-BE49-F238E27FC236}">
                <a16:creationId xmlns:a16="http://schemas.microsoft.com/office/drawing/2014/main" id="{9FAE052B-8AD7-4009-B5A1-FE7FEA098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5" y="297667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A9D44560-8ADA-488F-927D-7DD23F55DF22}"/>
              </a:ext>
            </a:extLst>
          </p:cNvPr>
          <p:cNvSpPr txBox="1"/>
          <p:nvPr/>
        </p:nvSpPr>
        <p:spPr>
          <a:xfrm>
            <a:off x="632385" y="1060225"/>
            <a:ext cx="252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dirty="0">
                <a:solidFill>
                  <a:srgbClr val="6ADBD9"/>
                </a:solidFill>
                <a:latin typeface="Open Sans" panose="020B0604020202020204"/>
              </a:rPr>
              <a:t>Árvore de decisão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694D313-C4ED-4676-8353-1C181A4D5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6964" y="1361659"/>
            <a:ext cx="6494925" cy="5330741"/>
          </a:xfrm>
          <a:prstGeom prst="rect">
            <a:avLst/>
          </a:prstGeom>
        </p:spPr>
      </p:pic>
      <p:pic>
        <p:nvPicPr>
          <p:cNvPr id="29" name="Google Shape;62;p13">
            <a:extLst>
              <a:ext uri="{FF2B5EF4-FFF2-40B4-BE49-F238E27FC236}">
                <a16:creationId xmlns:a16="http://schemas.microsoft.com/office/drawing/2014/main" id="{0479E3D5-0E5D-4C6D-904F-F110114B0BB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9259381" y="4383155"/>
            <a:ext cx="2932619" cy="24748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9823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2;p13">
            <a:extLst>
              <a:ext uri="{FF2B5EF4-FFF2-40B4-BE49-F238E27FC236}">
                <a16:creationId xmlns:a16="http://schemas.microsoft.com/office/drawing/2014/main" id="{7C7C1D6A-ED66-4886-B2D9-B1C6841EE1F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259381" y="4383155"/>
            <a:ext cx="2932619" cy="2474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7F95E81-C50F-459F-827F-706312BA7A1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t="41980" r="8724" b="41925"/>
          <a:stretch/>
        </p:blipFill>
        <p:spPr>
          <a:xfrm>
            <a:off x="6544277" y="6347292"/>
            <a:ext cx="1705361" cy="327947"/>
          </a:xfrm>
          <a:prstGeom prst="rect">
            <a:avLst/>
          </a:prstGeom>
        </p:spPr>
      </p:pic>
      <p:sp>
        <p:nvSpPr>
          <p:cNvPr id="8" name="Espaço Reservado para Número de Slide 4">
            <a:extLst>
              <a:ext uri="{FF2B5EF4-FFF2-40B4-BE49-F238E27FC236}">
                <a16:creationId xmlns:a16="http://schemas.microsoft.com/office/drawing/2014/main" id="{6FB72034-355D-49BB-87C1-9B091858F2F2}"/>
              </a:ext>
            </a:extLst>
          </p:cNvPr>
          <p:cNvSpPr txBox="1">
            <a:spLocks/>
          </p:cNvSpPr>
          <p:nvPr/>
        </p:nvSpPr>
        <p:spPr>
          <a:xfrm>
            <a:off x="11448110" y="355600"/>
            <a:ext cx="398450" cy="40946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FB8526-A7DF-44F1-A0A0-E2C9088E152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6ADBD9"/>
                </a:solidFill>
                <a:effectLst/>
                <a:uLnTx/>
                <a:uFillTx/>
                <a:latin typeface="Open Sans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9" name="Pentágono 8">
            <a:extLst>
              <a:ext uri="{FF2B5EF4-FFF2-40B4-BE49-F238E27FC236}">
                <a16:creationId xmlns:a16="http://schemas.microsoft.com/office/drawing/2014/main" id="{644FBE2D-7350-4B46-8585-E858DF5CAE69}"/>
              </a:ext>
            </a:extLst>
          </p:cNvPr>
          <p:cNvSpPr/>
          <p:nvPr/>
        </p:nvSpPr>
        <p:spPr>
          <a:xfrm>
            <a:off x="11529391" y="419377"/>
            <a:ext cx="274983" cy="251791"/>
          </a:xfrm>
          <a:prstGeom prst="pentagon">
            <a:avLst/>
          </a:prstGeom>
          <a:noFill/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A3734E6-4CA8-476F-9C12-5768A9143DA3}"/>
              </a:ext>
            </a:extLst>
          </p:cNvPr>
          <p:cNvSpPr txBox="1">
            <a:spLocks/>
          </p:cNvSpPr>
          <p:nvPr/>
        </p:nvSpPr>
        <p:spPr>
          <a:xfrm>
            <a:off x="705440" y="165600"/>
            <a:ext cx="6624736" cy="71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spcBef>
                <a:spcPct val="0"/>
              </a:spcBef>
              <a:buNone/>
              <a:defRPr sz="2400">
                <a:solidFill>
                  <a:srgbClr val="02BAB1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Business Case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C5C3340-3A5B-476B-928E-B11B0289C027}"/>
              </a:ext>
            </a:extLst>
          </p:cNvPr>
          <p:cNvSpPr txBox="1"/>
          <p:nvPr/>
        </p:nvSpPr>
        <p:spPr>
          <a:xfrm>
            <a:off x="705440" y="679113"/>
            <a:ext cx="9718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600" b="0" i="0" dirty="0">
                <a:solidFill>
                  <a:srgbClr val="333333"/>
                </a:solidFill>
                <a:effectLst/>
                <a:latin typeface="Open Sans" panose="020B0604020202020204"/>
              </a:rPr>
              <a:t>Prevendo o </a:t>
            </a:r>
            <a:r>
              <a:rPr lang="pt-BR" sz="1600" b="0" i="0" dirty="0" err="1">
                <a:solidFill>
                  <a:srgbClr val="333333"/>
                </a:solidFill>
                <a:effectLst/>
                <a:latin typeface="Open Sans" panose="020B0604020202020204"/>
              </a:rPr>
              <a:t>Churn</a:t>
            </a:r>
            <a:endParaRPr lang="pt-BR" sz="1600" b="0" i="0" dirty="0">
              <a:solidFill>
                <a:srgbClr val="333333"/>
              </a:solidFill>
              <a:effectLst/>
              <a:latin typeface="Open Sans" panose="020B0604020202020204"/>
            </a:endParaRPr>
          </a:p>
        </p:txBody>
      </p:sp>
      <p:pic>
        <p:nvPicPr>
          <p:cNvPr id="15" name="Picture 10" descr="Machine Learning Icon 2010152">
            <a:extLst>
              <a:ext uri="{FF2B5EF4-FFF2-40B4-BE49-F238E27FC236}">
                <a16:creationId xmlns:a16="http://schemas.microsoft.com/office/drawing/2014/main" id="{9FAE052B-8AD7-4009-B5A1-FE7FEA098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5" y="297667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010C3806-13F1-46FF-9A6F-2ECC0E661009}"/>
              </a:ext>
            </a:extLst>
          </p:cNvPr>
          <p:cNvSpPr txBox="1"/>
          <p:nvPr/>
        </p:nvSpPr>
        <p:spPr>
          <a:xfrm>
            <a:off x="-115147" y="2089352"/>
            <a:ext cx="45814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0" i="0" dirty="0" err="1">
                <a:solidFill>
                  <a:srgbClr val="333333"/>
                </a:solidFill>
                <a:effectLst/>
                <a:latin typeface="Open Sans" panose="020B0604020202020204"/>
              </a:rPr>
              <a:t>Feature</a:t>
            </a:r>
            <a:r>
              <a:rPr lang="pt-BR" b="0" i="0" dirty="0">
                <a:solidFill>
                  <a:srgbClr val="333333"/>
                </a:solidFill>
                <a:effectLst/>
                <a:latin typeface="Open Sans" panose="020B0604020202020204"/>
              </a:rPr>
              <a:t> 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Open Sans" panose="020B0604020202020204"/>
              </a:rPr>
              <a:t>selection</a:t>
            </a:r>
            <a:r>
              <a:rPr lang="pt-BR" b="0" i="0" dirty="0">
                <a:solidFill>
                  <a:srgbClr val="333333"/>
                </a:solidFill>
                <a:effectLst/>
                <a:latin typeface="Open Sans" panose="020B0604020202020204"/>
              </a:rPr>
              <a:t>: </a:t>
            </a:r>
          </a:p>
          <a:p>
            <a:pPr algn="ctr"/>
            <a:r>
              <a:rPr lang="pt-BR" b="0" i="0" dirty="0">
                <a:solidFill>
                  <a:srgbClr val="333333"/>
                </a:solidFill>
                <a:effectLst/>
                <a:latin typeface="Open Sans" panose="020B0604020202020204"/>
              </a:rPr>
              <a:t>ponto de corte de 0,7 </a:t>
            </a:r>
          </a:p>
        </p:txBody>
      </p:sp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51D452EB-84A6-447E-9F37-258F7BA6769F}"/>
              </a:ext>
            </a:extLst>
          </p:cNvPr>
          <p:cNvSpPr/>
          <p:nvPr/>
        </p:nvSpPr>
        <p:spPr>
          <a:xfrm rot="5400000">
            <a:off x="1709675" y="3812688"/>
            <a:ext cx="798762" cy="588723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A9D44560-8ADA-488F-927D-7DD23F55DF22}"/>
              </a:ext>
            </a:extLst>
          </p:cNvPr>
          <p:cNvSpPr txBox="1"/>
          <p:nvPr/>
        </p:nvSpPr>
        <p:spPr>
          <a:xfrm>
            <a:off x="919854" y="3258501"/>
            <a:ext cx="252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dirty="0">
                <a:solidFill>
                  <a:srgbClr val="333333"/>
                </a:solidFill>
                <a:latin typeface="Open Sans" panose="020B0604020202020204"/>
              </a:rPr>
              <a:t>28 variáveis iniciais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ADE44E2A-DF90-4D71-8E41-2CC31DB7F822}"/>
              </a:ext>
            </a:extLst>
          </p:cNvPr>
          <p:cNvSpPr txBox="1"/>
          <p:nvPr/>
        </p:nvSpPr>
        <p:spPr>
          <a:xfrm>
            <a:off x="978234" y="4576894"/>
            <a:ext cx="252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dirty="0">
                <a:solidFill>
                  <a:srgbClr val="333333"/>
                </a:solidFill>
                <a:latin typeface="Open Sans" panose="020B0604020202020204"/>
              </a:rPr>
              <a:t>12 variáveis finais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88F790C3-4C5A-45D2-9DB0-5FFB266944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3277" y="715724"/>
            <a:ext cx="8200388" cy="615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06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Número de Slide 4">
            <a:extLst>
              <a:ext uri="{FF2B5EF4-FFF2-40B4-BE49-F238E27FC236}">
                <a16:creationId xmlns:a16="http://schemas.microsoft.com/office/drawing/2014/main" id="{6FB72034-355D-49BB-87C1-9B091858F2F2}"/>
              </a:ext>
            </a:extLst>
          </p:cNvPr>
          <p:cNvSpPr txBox="1">
            <a:spLocks/>
          </p:cNvSpPr>
          <p:nvPr/>
        </p:nvSpPr>
        <p:spPr>
          <a:xfrm>
            <a:off x="11448110" y="355600"/>
            <a:ext cx="398450" cy="40946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FB8526-A7DF-44F1-A0A0-E2C9088E152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6ADBD9"/>
                </a:solidFill>
                <a:effectLst/>
                <a:uLnTx/>
                <a:uFillTx/>
                <a:latin typeface="Open Sans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9" name="Pentágono 8">
            <a:extLst>
              <a:ext uri="{FF2B5EF4-FFF2-40B4-BE49-F238E27FC236}">
                <a16:creationId xmlns:a16="http://schemas.microsoft.com/office/drawing/2014/main" id="{644FBE2D-7350-4B46-8585-E858DF5CAE69}"/>
              </a:ext>
            </a:extLst>
          </p:cNvPr>
          <p:cNvSpPr/>
          <p:nvPr/>
        </p:nvSpPr>
        <p:spPr>
          <a:xfrm>
            <a:off x="11529391" y="419377"/>
            <a:ext cx="274983" cy="251791"/>
          </a:xfrm>
          <a:prstGeom prst="pentagon">
            <a:avLst/>
          </a:prstGeom>
          <a:noFill/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A3734E6-4CA8-476F-9C12-5768A9143DA3}"/>
              </a:ext>
            </a:extLst>
          </p:cNvPr>
          <p:cNvSpPr txBox="1">
            <a:spLocks/>
          </p:cNvSpPr>
          <p:nvPr/>
        </p:nvSpPr>
        <p:spPr>
          <a:xfrm>
            <a:off x="705440" y="165600"/>
            <a:ext cx="6624736" cy="71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spcBef>
                <a:spcPct val="0"/>
              </a:spcBef>
              <a:buNone/>
              <a:defRPr sz="2400">
                <a:solidFill>
                  <a:srgbClr val="02BAB1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Business Case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C5C3340-3A5B-476B-928E-B11B0289C027}"/>
              </a:ext>
            </a:extLst>
          </p:cNvPr>
          <p:cNvSpPr txBox="1"/>
          <p:nvPr/>
        </p:nvSpPr>
        <p:spPr>
          <a:xfrm>
            <a:off x="705440" y="679113"/>
            <a:ext cx="9718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600" b="0" i="0" dirty="0">
                <a:solidFill>
                  <a:srgbClr val="333333"/>
                </a:solidFill>
                <a:effectLst/>
                <a:latin typeface="Open Sans" panose="020B0604020202020204"/>
              </a:rPr>
              <a:t>Prevendo o </a:t>
            </a:r>
            <a:r>
              <a:rPr lang="pt-BR" sz="1600" b="0" i="0" dirty="0" err="1">
                <a:solidFill>
                  <a:srgbClr val="333333"/>
                </a:solidFill>
                <a:effectLst/>
                <a:latin typeface="Open Sans" panose="020B0604020202020204"/>
              </a:rPr>
              <a:t>Churn</a:t>
            </a:r>
            <a:endParaRPr lang="pt-BR" sz="1600" b="0" i="0" dirty="0">
              <a:solidFill>
                <a:srgbClr val="333333"/>
              </a:solidFill>
              <a:effectLst/>
              <a:latin typeface="Open Sans" panose="020B0604020202020204"/>
            </a:endParaRPr>
          </a:p>
        </p:txBody>
      </p:sp>
      <p:pic>
        <p:nvPicPr>
          <p:cNvPr id="15" name="Picture 10" descr="Machine Learning Icon 2010152">
            <a:extLst>
              <a:ext uri="{FF2B5EF4-FFF2-40B4-BE49-F238E27FC236}">
                <a16:creationId xmlns:a16="http://schemas.microsoft.com/office/drawing/2014/main" id="{9FAE052B-8AD7-4009-B5A1-FE7FEA098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5" y="297667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CaixaDeTexto 28">
            <a:extLst>
              <a:ext uri="{FF2B5EF4-FFF2-40B4-BE49-F238E27FC236}">
                <a16:creationId xmlns:a16="http://schemas.microsoft.com/office/drawing/2014/main" id="{FC8F186F-971D-470A-A632-F1F365250F20}"/>
              </a:ext>
            </a:extLst>
          </p:cNvPr>
          <p:cNvSpPr txBox="1"/>
          <p:nvPr/>
        </p:nvSpPr>
        <p:spPr>
          <a:xfrm>
            <a:off x="199954" y="1297388"/>
            <a:ext cx="98083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dirty="0" err="1">
                <a:latin typeface="Open Sans" panose="020B0604020202020204"/>
              </a:rPr>
              <a:t>Tunning</a:t>
            </a:r>
            <a:r>
              <a:rPr lang="pt-BR" sz="2000" b="1" dirty="0">
                <a:latin typeface="Open Sans" panose="020B0604020202020204"/>
              </a:rPr>
              <a:t> Hiper parâmetros para Regressão </a:t>
            </a:r>
            <a:r>
              <a:rPr lang="pt-BR" sz="2000" b="1" dirty="0" err="1">
                <a:latin typeface="Open Sans" panose="020B0604020202020204"/>
              </a:rPr>
              <a:t>Logístioca</a:t>
            </a:r>
            <a:r>
              <a:rPr lang="pt-BR" sz="2000" b="1" dirty="0">
                <a:latin typeface="Open Sans" panose="020B0604020202020204"/>
              </a:rPr>
              <a:t> e </a:t>
            </a:r>
            <a:r>
              <a:rPr lang="pt-BR" sz="2000" b="1" dirty="0" err="1">
                <a:latin typeface="Open Sans" panose="020B0604020202020204"/>
              </a:rPr>
              <a:t>Random</a:t>
            </a:r>
            <a:r>
              <a:rPr lang="pt-BR" sz="2000" b="1" dirty="0">
                <a:latin typeface="Open Sans" panose="020B0604020202020204"/>
              </a:rPr>
              <a:t> Forest </a:t>
            </a: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C75A259D-83C4-4591-B38D-CF1053234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54" y="2204387"/>
            <a:ext cx="5114944" cy="3731080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02E603E4-0C11-4401-B80E-3F23B35CE1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010" y="2204387"/>
            <a:ext cx="6185335" cy="3929867"/>
          </a:xfrm>
          <a:prstGeom prst="rect">
            <a:avLst/>
          </a:prstGeom>
        </p:spPr>
      </p:pic>
      <p:pic>
        <p:nvPicPr>
          <p:cNvPr id="37" name="Google Shape;62;p13">
            <a:extLst>
              <a:ext uri="{FF2B5EF4-FFF2-40B4-BE49-F238E27FC236}">
                <a16:creationId xmlns:a16="http://schemas.microsoft.com/office/drawing/2014/main" id="{0CF6DC09-7315-40F9-A234-75C697CC8A1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9259381" y="4383155"/>
            <a:ext cx="2932619" cy="2474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CFAAE58D-33A7-4935-9E3B-876541EAF29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t="41980" r="8724" b="41925"/>
          <a:stretch/>
        </p:blipFill>
        <p:spPr>
          <a:xfrm>
            <a:off x="6544277" y="6347292"/>
            <a:ext cx="1705361" cy="327947"/>
          </a:xfrm>
          <a:prstGeom prst="rect">
            <a:avLst/>
          </a:prstGeom>
        </p:spPr>
      </p:pic>
      <p:sp>
        <p:nvSpPr>
          <p:cNvPr id="42" name="Espaço Reservado para Data 3">
            <a:extLst>
              <a:ext uri="{FF2B5EF4-FFF2-40B4-BE49-F238E27FC236}">
                <a16:creationId xmlns:a16="http://schemas.microsoft.com/office/drawing/2014/main" id="{36432BE6-318B-4A01-ADD4-D8EE0CA3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3357880" cy="336050"/>
          </a:xfrm>
        </p:spPr>
        <p:txBody>
          <a:bodyPr/>
          <a:lstStyle/>
          <a:p>
            <a:r>
              <a:rPr lang="pt-BR" dirty="0"/>
              <a:t>@2020 LABDATA FIA. Copyright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rights</a:t>
            </a:r>
            <a:r>
              <a:rPr lang="pt-BR" dirty="0"/>
              <a:t> </a:t>
            </a:r>
            <a:r>
              <a:rPr lang="pt-BR" dirty="0" err="1"/>
              <a:t>reserved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430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Número de Slide 4">
            <a:extLst>
              <a:ext uri="{FF2B5EF4-FFF2-40B4-BE49-F238E27FC236}">
                <a16:creationId xmlns:a16="http://schemas.microsoft.com/office/drawing/2014/main" id="{6FB72034-355D-49BB-87C1-9B091858F2F2}"/>
              </a:ext>
            </a:extLst>
          </p:cNvPr>
          <p:cNvSpPr txBox="1">
            <a:spLocks/>
          </p:cNvSpPr>
          <p:nvPr/>
        </p:nvSpPr>
        <p:spPr>
          <a:xfrm>
            <a:off x="11448110" y="355600"/>
            <a:ext cx="398450" cy="40946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FB8526-A7DF-44F1-A0A0-E2C9088E152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6ADBD9"/>
                </a:solidFill>
                <a:effectLst/>
                <a:uLnTx/>
                <a:uFillTx/>
                <a:latin typeface="Open Sans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9" name="Pentágono 8">
            <a:extLst>
              <a:ext uri="{FF2B5EF4-FFF2-40B4-BE49-F238E27FC236}">
                <a16:creationId xmlns:a16="http://schemas.microsoft.com/office/drawing/2014/main" id="{644FBE2D-7350-4B46-8585-E858DF5CAE69}"/>
              </a:ext>
            </a:extLst>
          </p:cNvPr>
          <p:cNvSpPr/>
          <p:nvPr/>
        </p:nvSpPr>
        <p:spPr>
          <a:xfrm>
            <a:off x="11529391" y="419377"/>
            <a:ext cx="274983" cy="251791"/>
          </a:xfrm>
          <a:prstGeom prst="pentagon">
            <a:avLst/>
          </a:prstGeom>
          <a:noFill/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A3734E6-4CA8-476F-9C12-5768A9143DA3}"/>
              </a:ext>
            </a:extLst>
          </p:cNvPr>
          <p:cNvSpPr txBox="1">
            <a:spLocks/>
          </p:cNvSpPr>
          <p:nvPr/>
        </p:nvSpPr>
        <p:spPr>
          <a:xfrm>
            <a:off x="705440" y="165600"/>
            <a:ext cx="6624736" cy="71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spcBef>
                <a:spcPct val="0"/>
              </a:spcBef>
              <a:buNone/>
              <a:defRPr sz="2400">
                <a:solidFill>
                  <a:srgbClr val="02BAB1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Business Case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C5C3340-3A5B-476B-928E-B11B0289C027}"/>
              </a:ext>
            </a:extLst>
          </p:cNvPr>
          <p:cNvSpPr txBox="1"/>
          <p:nvPr/>
        </p:nvSpPr>
        <p:spPr>
          <a:xfrm>
            <a:off x="705440" y="679113"/>
            <a:ext cx="9718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600" b="0" i="0" dirty="0">
                <a:solidFill>
                  <a:srgbClr val="333333"/>
                </a:solidFill>
                <a:effectLst/>
                <a:latin typeface="Open Sans" panose="020B0604020202020204"/>
              </a:rPr>
              <a:t>Prevendo o </a:t>
            </a:r>
            <a:r>
              <a:rPr lang="pt-BR" sz="1600" b="0" i="0" dirty="0" err="1">
                <a:solidFill>
                  <a:srgbClr val="333333"/>
                </a:solidFill>
                <a:effectLst/>
                <a:latin typeface="Open Sans" panose="020B0604020202020204"/>
              </a:rPr>
              <a:t>Churn</a:t>
            </a:r>
            <a:endParaRPr lang="pt-BR" sz="1600" b="0" i="0" dirty="0">
              <a:solidFill>
                <a:srgbClr val="333333"/>
              </a:solidFill>
              <a:effectLst/>
              <a:latin typeface="Open Sans" panose="020B0604020202020204"/>
            </a:endParaRPr>
          </a:p>
        </p:txBody>
      </p:sp>
      <p:pic>
        <p:nvPicPr>
          <p:cNvPr id="15" name="Picture 10" descr="Machine Learning Icon 2010152">
            <a:extLst>
              <a:ext uri="{FF2B5EF4-FFF2-40B4-BE49-F238E27FC236}">
                <a16:creationId xmlns:a16="http://schemas.microsoft.com/office/drawing/2014/main" id="{9FAE052B-8AD7-4009-B5A1-FE7FEA098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5" y="297667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CaixaDeTexto 28">
            <a:extLst>
              <a:ext uri="{FF2B5EF4-FFF2-40B4-BE49-F238E27FC236}">
                <a16:creationId xmlns:a16="http://schemas.microsoft.com/office/drawing/2014/main" id="{FC8F186F-971D-470A-A632-F1F365250F20}"/>
              </a:ext>
            </a:extLst>
          </p:cNvPr>
          <p:cNvSpPr txBox="1"/>
          <p:nvPr/>
        </p:nvSpPr>
        <p:spPr>
          <a:xfrm>
            <a:off x="199954" y="1297388"/>
            <a:ext cx="98083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dirty="0">
                <a:latin typeface="Open Sans" panose="020B0604020202020204"/>
              </a:rPr>
              <a:t>Regressão Logística</a:t>
            </a:r>
          </a:p>
        </p:txBody>
      </p:sp>
      <p:pic>
        <p:nvPicPr>
          <p:cNvPr id="37" name="Google Shape;62;p13">
            <a:extLst>
              <a:ext uri="{FF2B5EF4-FFF2-40B4-BE49-F238E27FC236}">
                <a16:creationId xmlns:a16="http://schemas.microsoft.com/office/drawing/2014/main" id="{0CF6DC09-7315-40F9-A234-75C697CC8A1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9259381" y="4383155"/>
            <a:ext cx="2932619" cy="2474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CFAAE58D-33A7-4935-9E3B-876541EAF29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t="41980" r="8724" b="41925"/>
          <a:stretch/>
        </p:blipFill>
        <p:spPr>
          <a:xfrm>
            <a:off x="6544277" y="6347292"/>
            <a:ext cx="1705361" cy="327947"/>
          </a:xfrm>
          <a:prstGeom prst="rect">
            <a:avLst/>
          </a:prstGeom>
        </p:spPr>
      </p:pic>
      <p:sp>
        <p:nvSpPr>
          <p:cNvPr id="42" name="Espaço Reservado para Data 3">
            <a:extLst>
              <a:ext uri="{FF2B5EF4-FFF2-40B4-BE49-F238E27FC236}">
                <a16:creationId xmlns:a16="http://schemas.microsoft.com/office/drawing/2014/main" id="{36432BE6-318B-4A01-ADD4-D8EE0CA3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3357880" cy="336050"/>
          </a:xfrm>
        </p:spPr>
        <p:txBody>
          <a:bodyPr/>
          <a:lstStyle/>
          <a:p>
            <a:r>
              <a:rPr lang="pt-BR" dirty="0"/>
              <a:t>@2020 LABDATA FIA. Copyright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rights</a:t>
            </a:r>
            <a:r>
              <a:rPr lang="pt-BR" dirty="0"/>
              <a:t> </a:t>
            </a:r>
            <a:r>
              <a:rPr lang="pt-BR" dirty="0" err="1"/>
              <a:t>reserved</a:t>
            </a:r>
            <a:r>
              <a:rPr lang="pt-BR" dirty="0"/>
              <a:t>.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E4D63F4-6E79-4BFC-9C5D-7D0E0FA1A0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6985" y="1697499"/>
            <a:ext cx="6387739" cy="181082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E3334B87-BF95-4C89-A928-999E163F60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0205" y="3702955"/>
            <a:ext cx="3800423" cy="2449707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A02B120E-9D05-4344-AAC3-8E2189A643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4724" y="1627150"/>
            <a:ext cx="3124758" cy="452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1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Número de Slide 4">
            <a:extLst>
              <a:ext uri="{FF2B5EF4-FFF2-40B4-BE49-F238E27FC236}">
                <a16:creationId xmlns:a16="http://schemas.microsoft.com/office/drawing/2014/main" id="{6FB72034-355D-49BB-87C1-9B091858F2F2}"/>
              </a:ext>
            </a:extLst>
          </p:cNvPr>
          <p:cNvSpPr txBox="1">
            <a:spLocks/>
          </p:cNvSpPr>
          <p:nvPr/>
        </p:nvSpPr>
        <p:spPr>
          <a:xfrm>
            <a:off x="11448110" y="355600"/>
            <a:ext cx="398450" cy="40946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FB8526-A7DF-44F1-A0A0-E2C9088E152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6ADBD9"/>
                </a:solidFill>
                <a:effectLst/>
                <a:uLnTx/>
                <a:uFillTx/>
                <a:latin typeface="Open Sans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9" name="Pentágono 8">
            <a:extLst>
              <a:ext uri="{FF2B5EF4-FFF2-40B4-BE49-F238E27FC236}">
                <a16:creationId xmlns:a16="http://schemas.microsoft.com/office/drawing/2014/main" id="{644FBE2D-7350-4B46-8585-E858DF5CAE69}"/>
              </a:ext>
            </a:extLst>
          </p:cNvPr>
          <p:cNvSpPr/>
          <p:nvPr/>
        </p:nvSpPr>
        <p:spPr>
          <a:xfrm>
            <a:off x="11529391" y="419377"/>
            <a:ext cx="274983" cy="251791"/>
          </a:xfrm>
          <a:prstGeom prst="pentagon">
            <a:avLst/>
          </a:prstGeom>
          <a:noFill/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A3734E6-4CA8-476F-9C12-5768A9143DA3}"/>
              </a:ext>
            </a:extLst>
          </p:cNvPr>
          <p:cNvSpPr txBox="1">
            <a:spLocks/>
          </p:cNvSpPr>
          <p:nvPr/>
        </p:nvSpPr>
        <p:spPr>
          <a:xfrm>
            <a:off x="705440" y="165600"/>
            <a:ext cx="6624736" cy="71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spcBef>
                <a:spcPct val="0"/>
              </a:spcBef>
              <a:buNone/>
              <a:defRPr sz="2400">
                <a:solidFill>
                  <a:srgbClr val="02BAB1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Business Case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C5C3340-3A5B-476B-928E-B11B0289C027}"/>
              </a:ext>
            </a:extLst>
          </p:cNvPr>
          <p:cNvSpPr txBox="1"/>
          <p:nvPr/>
        </p:nvSpPr>
        <p:spPr>
          <a:xfrm>
            <a:off x="705440" y="679113"/>
            <a:ext cx="9718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600" b="0" i="0" dirty="0">
                <a:solidFill>
                  <a:srgbClr val="333333"/>
                </a:solidFill>
                <a:effectLst/>
                <a:latin typeface="Open Sans" panose="020B0604020202020204"/>
              </a:rPr>
              <a:t>Prevendo o </a:t>
            </a:r>
            <a:r>
              <a:rPr lang="pt-BR" sz="1600" b="0" i="0" dirty="0" err="1">
                <a:solidFill>
                  <a:srgbClr val="333333"/>
                </a:solidFill>
                <a:effectLst/>
                <a:latin typeface="Open Sans" panose="020B0604020202020204"/>
              </a:rPr>
              <a:t>Churn</a:t>
            </a:r>
            <a:endParaRPr lang="pt-BR" sz="1600" b="0" i="0" dirty="0">
              <a:solidFill>
                <a:srgbClr val="333333"/>
              </a:solidFill>
              <a:effectLst/>
              <a:latin typeface="Open Sans" panose="020B0604020202020204"/>
            </a:endParaRPr>
          </a:p>
        </p:txBody>
      </p:sp>
      <p:pic>
        <p:nvPicPr>
          <p:cNvPr id="15" name="Picture 10" descr="Machine Learning Icon 2010152">
            <a:extLst>
              <a:ext uri="{FF2B5EF4-FFF2-40B4-BE49-F238E27FC236}">
                <a16:creationId xmlns:a16="http://schemas.microsoft.com/office/drawing/2014/main" id="{9FAE052B-8AD7-4009-B5A1-FE7FEA098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5" y="297667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CaixaDeTexto 28">
            <a:extLst>
              <a:ext uri="{FF2B5EF4-FFF2-40B4-BE49-F238E27FC236}">
                <a16:creationId xmlns:a16="http://schemas.microsoft.com/office/drawing/2014/main" id="{FC8F186F-971D-470A-A632-F1F365250F20}"/>
              </a:ext>
            </a:extLst>
          </p:cNvPr>
          <p:cNvSpPr txBox="1"/>
          <p:nvPr/>
        </p:nvSpPr>
        <p:spPr>
          <a:xfrm>
            <a:off x="199954" y="1297388"/>
            <a:ext cx="98083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dirty="0" err="1">
                <a:latin typeface="Open Sans" panose="020B0604020202020204"/>
              </a:rPr>
              <a:t>Random</a:t>
            </a:r>
            <a:r>
              <a:rPr lang="pt-BR" sz="2000" b="1" dirty="0">
                <a:latin typeface="Open Sans" panose="020B0604020202020204"/>
              </a:rPr>
              <a:t> Forest</a:t>
            </a:r>
          </a:p>
        </p:txBody>
      </p:sp>
      <p:pic>
        <p:nvPicPr>
          <p:cNvPr id="37" name="Google Shape;62;p13">
            <a:extLst>
              <a:ext uri="{FF2B5EF4-FFF2-40B4-BE49-F238E27FC236}">
                <a16:creationId xmlns:a16="http://schemas.microsoft.com/office/drawing/2014/main" id="{0CF6DC09-7315-40F9-A234-75C697CC8A1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9259381" y="4383155"/>
            <a:ext cx="2932619" cy="2474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CFAAE58D-33A7-4935-9E3B-876541EAF29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t="41980" r="8724" b="41925"/>
          <a:stretch/>
        </p:blipFill>
        <p:spPr>
          <a:xfrm>
            <a:off x="6544277" y="6347292"/>
            <a:ext cx="1705361" cy="327947"/>
          </a:xfrm>
          <a:prstGeom prst="rect">
            <a:avLst/>
          </a:prstGeom>
        </p:spPr>
      </p:pic>
      <p:sp>
        <p:nvSpPr>
          <p:cNvPr id="42" name="Espaço Reservado para Data 3">
            <a:extLst>
              <a:ext uri="{FF2B5EF4-FFF2-40B4-BE49-F238E27FC236}">
                <a16:creationId xmlns:a16="http://schemas.microsoft.com/office/drawing/2014/main" id="{36432BE6-318B-4A01-ADD4-D8EE0CA3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3357880" cy="336050"/>
          </a:xfrm>
        </p:spPr>
        <p:txBody>
          <a:bodyPr/>
          <a:lstStyle/>
          <a:p>
            <a:r>
              <a:rPr lang="pt-BR" dirty="0"/>
              <a:t>@2020 LABDATA FIA. Copyright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rights</a:t>
            </a:r>
            <a:r>
              <a:rPr lang="pt-BR" dirty="0"/>
              <a:t> </a:t>
            </a:r>
            <a:r>
              <a:rPr lang="pt-BR" dirty="0" err="1"/>
              <a:t>reserved</a:t>
            </a:r>
            <a:r>
              <a:rPr lang="pt-BR" dirty="0"/>
              <a:t>.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4D346187-10B4-4941-B509-5D67A5907D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4060" y="3618821"/>
            <a:ext cx="3892643" cy="2592961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A8D70667-8007-406A-BD75-3462998513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4068" y="1724017"/>
            <a:ext cx="6272628" cy="1759295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424AD66F-AA97-447C-B972-A29CAFF13F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4510" y="1584063"/>
            <a:ext cx="3209742" cy="407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6743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Número de Slide 4">
            <a:extLst>
              <a:ext uri="{FF2B5EF4-FFF2-40B4-BE49-F238E27FC236}">
                <a16:creationId xmlns:a16="http://schemas.microsoft.com/office/drawing/2014/main" id="{6FB72034-355D-49BB-87C1-9B091858F2F2}"/>
              </a:ext>
            </a:extLst>
          </p:cNvPr>
          <p:cNvSpPr txBox="1">
            <a:spLocks/>
          </p:cNvSpPr>
          <p:nvPr/>
        </p:nvSpPr>
        <p:spPr>
          <a:xfrm>
            <a:off x="11448110" y="355600"/>
            <a:ext cx="398450" cy="40946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FB8526-A7DF-44F1-A0A0-E2C9088E152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6ADBD9"/>
                </a:solidFill>
                <a:effectLst/>
                <a:uLnTx/>
                <a:uFillTx/>
                <a:latin typeface="Open Sans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9" name="Pentágono 8">
            <a:extLst>
              <a:ext uri="{FF2B5EF4-FFF2-40B4-BE49-F238E27FC236}">
                <a16:creationId xmlns:a16="http://schemas.microsoft.com/office/drawing/2014/main" id="{644FBE2D-7350-4B46-8585-E858DF5CAE69}"/>
              </a:ext>
            </a:extLst>
          </p:cNvPr>
          <p:cNvSpPr/>
          <p:nvPr/>
        </p:nvSpPr>
        <p:spPr>
          <a:xfrm>
            <a:off x="11529391" y="419377"/>
            <a:ext cx="274983" cy="251791"/>
          </a:xfrm>
          <a:prstGeom prst="pentagon">
            <a:avLst/>
          </a:prstGeom>
          <a:noFill/>
          <a:ln>
            <a:solidFill>
              <a:srgbClr val="6ADB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6ADBD9"/>
              </a:solidFill>
              <a:effectLst/>
              <a:uLnTx/>
              <a:uFillTx/>
              <a:latin typeface="Open Sans" panose="020B0604020202020204"/>
              <a:ea typeface="+mn-ea"/>
              <a:cs typeface="+mn-cs"/>
            </a:endParaRP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A3734E6-4CA8-476F-9C12-5768A9143DA3}"/>
              </a:ext>
            </a:extLst>
          </p:cNvPr>
          <p:cNvSpPr txBox="1">
            <a:spLocks/>
          </p:cNvSpPr>
          <p:nvPr/>
        </p:nvSpPr>
        <p:spPr>
          <a:xfrm>
            <a:off x="705440" y="165600"/>
            <a:ext cx="6624736" cy="71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spcBef>
                <a:spcPct val="0"/>
              </a:spcBef>
              <a:buNone/>
              <a:defRPr sz="2400">
                <a:solidFill>
                  <a:srgbClr val="02BAB1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434343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Business Case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C5C3340-3A5B-476B-928E-B11B0289C027}"/>
              </a:ext>
            </a:extLst>
          </p:cNvPr>
          <p:cNvSpPr txBox="1"/>
          <p:nvPr/>
        </p:nvSpPr>
        <p:spPr>
          <a:xfrm>
            <a:off x="705440" y="679113"/>
            <a:ext cx="9718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600" b="0" i="0" dirty="0">
                <a:solidFill>
                  <a:srgbClr val="333333"/>
                </a:solidFill>
                <a:effectLst/>
                <a:latin typeface="Open Sans" panose="020B0604020202020204"/>
              </a:rPr>
              <a:t>Prevendo o </a:t>
            </a:r>
            <a:r>
              <a:rPr lang="pt-BR" sz="1600" b="0" i="0" dirty="0" err="1">
                <a:solidFill>
                  <a:srgbClr val="333333"/>
                </a:solidFill>
                <a:effectLst/>
                <a:latin typeface="Open Sans" panose="020B0604020202020204"/>
              </a:rPr>
              <a:t>Churn</a:t>
            </a:r>
            <a:endParaRPr lang="pt-BR" sz="1600" b="0" i="0" dirty="0">
              <a:solidFill>
                <a:srgbClr val="333333"/>
              </a:solidFill>
              <a:effectLst/>
              <a:latin typeface="Open Sans" panose="020B0604020202020204"/>
            </a:endParaRPr>
          </a:p>
        </p:txBody>
      </p:sp>
      <p:pic>
        <p:nvPicPr>
          <p:cNvPr id="15" name="Picture 10" descr="Machine Learning Icon 2010152">
            <a:extLst>
              <a:ext uri="{FF2B5EF4-FFF2-40B4-BE49-F238E27FC236}">
                <a16:creationId xmlns:a16="http://schemas.microsoft.com/office/drawing/2014/main" id="{9FAE052B-8AD7-4009-B5A1-FE7FEA098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5" y="297667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Google Shape;62;p13">
            <a:extLst>
              <a:ext uri="{FF2B5EF4-FFF2-40B4-BE49-F238E27FC236}">
                <a16:creationId xmlns:a16="http://schemas.microsoft.com/office/drawing/2014/main" id="{0CF6DC09-7315-40F9-A234-75C697CC8A1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259381" y="4383155"/>
            <a:ext cx="2932619" cy="2474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CFAAE58D-33A7-4935-9E3B-876541EAF29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t="41980" r="8724" b="41925"/>
          <a:stretch/>
        </p:blipFill>
        <p:spPr>
          <a:xfrm>
            <a:off x="6544277" y="6347292"/>
            <a:ext cx="1705361" cy="327947"/>
          </a:xfrm>
          <a:prstGeom prst="rect">
            <a:avLst/>
          </a:prstGeom>
        </p:spPr>
      </p:pic>
      <p:sp>
        <p:nvSpPr>
          <p:cNvPr id="42" name="Espaço Reservado para Data 3">
            <a:extLst>
              <a:ext uri="{FF2B5EF4-FFF2-40B4-BE49-F238E27FC236}">
                <a16:creationId xmlns:a16="http://schemas.microsoft.com/office/drawing/2014/main" id="{36432BE6-318B-4A01-ADD4-D8EE0CA3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3357880" cy="336050"/>
          </a:xfrm>
        </p:spPr>
        <p:txBody>
          <a:bodyPr/>
          <a:lstStyle/>
          <a:p>
            <a:r>
              <a:rPr lang="pt-BR" dirty="0"/>
              <a:t>@2020 LABDATA FIA. Copyright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rights</a:t>
            </a:r>
            <a:r>
              <a:rPr lang="pt-BR" dirty="0"/>
              <a:t> </a:t>
            </a:r>
            <a:r>
              <a:rPr lang="pt-BR" dirty="0" err="1"/>
              <a:t>reserved</a:t>
            </a:r>
            <a:r>
              <a:rPr lang="pt-BR" dirty="0"/>
              <a:t>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56481DD-A3CB-403E-A1EC-9B23DF6B7B8A}"/>
              </a:ext>
            </a:extLst>
          </p:cNvPr>
          <p:cNvSpPr txBox="1"/>
          <p:nvPr/>
        </p:nvSpPr>
        <p:spPr>
          <a:xfrm>
            <a:off x="842931" y="1847644"/>
            <a:ext cx="108239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dirty="0">
                <a:latin typeface="Open Sans" panose="020B0604020202020204"/>
              </a:rPr>
              <a:t>Ganho significativo no modelo considerando informações quinzenais de </a:t>
            </a:r>
            <a:r>
              <a:rPr lang="pt-BR" sz="2000" b="1" dirty="0" err="1">
                <a:latin typeface="Open Sans" panose="020B0604020202020204"/>
              </a:rPr>
              <a:t>push</a:t>
            </a:r>
            <a:r>
              <a:rPr lang="pt-BR" sz="2000" b="1" dirty="0">
                <a:latin typeface="Open Sans" panose="020B0604020202020204"/>
              </a:rPr>
              <a:t> e </a:t>
            </a:r>
            <a:r>
              <a:rPr lang="pt-BR" sz="2000" b="1" dirty="0" err="1">
                <a:latin typeface="Open Sans" panose="020B0604020202020204"/>
              </a:rPr>
              <a:t>session</a:t>
            </a:r>
            <a:endParaRPr lang="pt-BR" sz="2000" b="1" dirty="0">
              <a:latin typeface="Open Sans" panose="020B0604020202020204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03D930E-F465-4BEE-9F14-C8E5BD43E2A0}"/>
              </a:ext>
            </a:extLst>
          </p:cNvPr>
          <p:cNvSpPr txBox="1"/>
          <p:nvPr/>
        </p:nvSpPr>
        <p:spPr>
          <a:xfrm>
            <a:off x="842931" y="2537532"/>
            <a:ext cx="108239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dirty="0">
                <a:latin typeface="Open Sans" panose="020B0604020202020204"/>
              </a:rPr>
              <a:t>Aumento da identificação da classe alvo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48451C1-E99D-4F0E-99FD-BA0328A3BC77}"/>
              </a:ext>
            </a:extLst>
          </p:cNvPr>
          <p:cNvSpPr txBox="1"/>
          <p:nvPr/>
        </p:nvSpPr>
        <p:spPr>
          <a:xfrm>
            <a:off x="842931" y="3227420"/>
            <a:ext cx="108239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dirty="0">
                <a:latin typeface="Open Sans" panose="020B0604020202020204"/>
              </a:rPr>
              <a:t>Melhor direcionamento de ações para clientes que foram classificados como </a:t>
            </a:r>
            <a:r>
              <a:rPr lang="pt-BR" sz="2000" b="1" dirty="0" err="1">
                <a:latin typeface="Open Sans" panose="020B0604020202020204"/>
              </a:rPr>
              <a:t>churn</a:t>
            </a:r>
            <a:endParaRPr lang="pt-BR" sz="2000" b="1" dirty="0">
              <a:latin typeface="Open Sans" panose="020B0604020202020204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7044211-A40F-4CE6-99BC-A586E299B4E6}"/>
              </a:ext>
            </a:extLst>
          </p:cNvPr>
          <p:cNvSpPr txBox="1"/>
          <p:nvPr/>
        </p:nvSpPr>
        <p:spPr>
          <a:xfrm>
            <a:off x="842931" y="3917308"/>
            <a:ext cx="108239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dirty="0">
                <a:latin typeface="Open Sans" panose="020B0604020202020204"/>
              </a:rPr>
              <a:t>Redução do custo operacional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E16744A-D2F3-4DB7-A5C1-48681FA5EE1B}"/>
              </a:ext>
            </a:extLst>
          </p:cNvPr>
          <p:cNvSpPr txBox="1"/>
          <p:nvPr/>
        </p:nvSpPr>
        <p:spPr>
          <a:xfrm>
            <a:off x="842931" y="4607196"/>
            <a:ext cx="108239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dirty="0">
                <a:latin typeface="Open Sans" panose="020B0604020202020204"/>
              </a:rPr>
              <a:t>Classificação quinzenal torna as tomadas de decisão mais rápidas e efetivas</a:t>
            </a:r>
          </a:p>
        </p:txBody>
      </p:sp>
    </p:spTree>
    <p:extLst>
      <p:ext uri="{BB962C8B-B14F-4D97-AF65-F5344CB8AC3E}">
        <p14:creationId xmlns:p14="http://schemas.microsoft.com/office/powerpoint/2010/main" val="33182333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12907</TotalTime>
  <Words>1723</Words>
  <Application>Microsoft Office PowerPoint</Application>
  <PresentationFormat>Widescreen</PresentationFormat>
  <Paragraphs>300</Paragraphs>
  <Slides>20</Slides>
  <Notes>19</Notes>
  <HiddenSlides>1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Calibri Light</vt:lpstr>
      <vt:lpstr>Gotham Bold</vt:lpstr>
      <vt:lpstr>Gotham Book</vt:lpstr>
      <vt:lpstr>Inter</vt:lpstr>
      <vt:lpstr>Open Sans</vt:lpstr>
      <vt:lpstr>Tema do Office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karin</dc:creator>
  <cp:lastModifiedBy>Vivian Liu De Oliveira</cp:lastModifiedBy>
  <cp:revision>368</cp:revision>
  <dcterms:created xsi:type="dcterms:W3CDTF">2020-04-08T18:00:12Z</dcterms:created>
  <dcterms:modified xsi:type="dcterms:W3CDTF">2020-08-07T01:05:13Z</dcterms:modified>
</cp:coreProperties>
</file>